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23_290ACA81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1"/>
  </p:notesMasterIdLst>
  <p:sldIdLst>
    <p:sldId id="307" r:id="rId2"/>
    <p:sldId id="308" r:id="rId3"/>
    <p:sldId id="347" r:id="rId4"/>
    <p:sldId id="348" r:id="rId5"/>
    <p:sldId id="350" r:id="rId6"/>
    <p:sldId id="355" r:id="rId7"/>
    <p:sldId id="349" r:id="rId8"/>
    <p:sldId id="351" r:id="rId9"/>
    <p:sldId id="352" r:id="rId10"/>
    <p:sldId id="370" r:id="rId11"/>
    <p:sldId id="354" r:id="rId12"/>
    <p:sldId id="334" r:id="rId13"/>
    <p:sldId id="371" r:id="rId14"/>
    <p:sldId id="291" r:id="rId15"/>
    <p:sldId id="303" r:id="rId16"/>
    <p:sldId id="356" r:id="rId17"/>
    <p:sldId id="357" r:id="rId18"/>
    <p:sldId id="358" r:id="rId19"/>
    <p:sldId id="359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26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BFE00055-5EDB-CA43-9857-CD2854D3C4FD}">
          <p14:sldIdLst>
            <p14:sldId id="307"/>
          </p14:sldIdLst>
        </p14:section>
        <p14:section name="Body" id="{954C1FAD-0EA4-244B-BB16-9CD221678F50}">
          <p14:sldIdLst>
            <p14:sldId id="308"/>
            <p14:sldId id="347"/>
            <p14:sldId id="348"/>
            <p14:sldId id="350"/>
            <p14:sldId id="355"/>
            <p14:sldId id="349"/>
            <p14:sldId id="351"/>
            <p14:sldId id="352"/>
            <p14:sldId id="370"/>
            <p14:sldId id="354"/>
            <p14:sldId id="334"/>
            <p14:sldId id="371"/>
            <p14:sldId id="291"/>
            <p14:sldId id="303"/>
            <p14:sldId id="356"/>
            <p14:sldId id="357"/>
            <p14:sldId id="358"/>
            <p14:sldId id="359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69AA36-4F52-D111-7569-4B4315825BB4}" name="Zhang, Aiying (xsa5db)" initials="ZA(" userId="S::xsa5db@virginia.edu::f20fc624-e969-495f-ab2e-c5253e2e70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323E"/>
    <a:srgbClr val="EFF2F8"/>
    <a:srgbClr val="E57200"/>
    <a:srgbClr val="FDDA24"/>
    <a:srgbClr val="232D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EBF4AF-5ACE-5448-96BD-EB6FB9514319}" v="798" dt="2025-11-06T02:19:41.445"/>
    <p1510:client id="{25F977BC-D721-CB2B-4632-62CE0FB358AE}" v="241" dt="2025-11-06T01:27:02.631"/>
    <p1510:client id="{605EB374-43C3-6B42-28FF-B787660C5E3D}" v="2" dt="2025-11-06T14:55:03.529"/>
    <p1510:client id="{89EDA73B-C65E-A583-2D95-D590BA5BC780}" v="423" dt="2025-11-05T16:33:04.164"/>
    <p1510:client id="{BFAA4308-AA2E-DDB7-369D-9DF544155FB9}" v="1045" dt="2025-11-05T20:52:42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8219"/>
  </p:normalViewPr>
  <p:slideViewPr>
    <p:cSldViewPr snapToGrid="0">
      <p:cViewPr varScale="1">
        <p:scale>
          <a:sx n="111" d="100"/>
          <a:sy n="111" d="100"/>
        </p:scale>
        <p:origin x="1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23_290ACA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CB553E-A198-9441-A680-2055EA0FD0E3}" authorId="{2369AA36-4F52-D111-7569-4B4315825BB4}" created="2025-11-06T02:19:41.42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88573057" sldId="291"/>
      <ac:spMk id="4" creationId="{C3D278D3-EB3C-FA1F-0EBD-7430788DBADB}"/>
    </ac:deMkLst>
    <p188:txBody>
      <a:bodyPr/>
      <a:lstStyle/>
      <a:p>
        <a:r>
          <a:rPr lang="en-US"/>
          <a:t>Chang, feel free to add your photo here (if you want to).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3372A-A158-BD4A-BD84-F87A77F3354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26465-F0BF-304A-BE0E-BE2131DB3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33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6465-F0BF-304A-BE0E-BE2131DB30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67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provides insights into brain activity and functional connectivity by detecting changes in blood flow and oxygenation associated with neuronal activity.</a:t>
            </a:r>
          </a:p>
          <a:p>
            <a:endParaRPr lang="en-US" dirty="0"/>
          </a:p>
          <a:p>
            <a:r>
              <a:rPr lang="en-US" dirty="0"/>
              <a:t>fMRI relies on the BOLD signal, which reflects changes in the ratio of oxygenated to deoxygenated hemoglobin in the blood. </a:t>
            </a:r>
          </a:p>
          <a:p>
            <a:r>
              <a:rPr lang="en-US" dirty="0"/>
              <a:t>Increased neural activity leads to increased blood flow to specific brain regions, which alters the BOLD signal.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6465-F0BF-304A-BE0E-BE2131DB30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17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complexity of brain computation mechanism implies that it is a product of combination of local synchronizations as well as longer ranged connections between neurons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6465-F0BF-304A-BE0E-BE2131DB30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49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Fluid intelligence is characterized by the capacity to think logically and solve new problems, independent of previously acquired knowledge. </a:t>
            </a:r>
          </a:p>
          <a:p>
            <a:r>
              <a:rPr lang="en-US"/>
              <a:t>It is crucial for adapting to new situations and tackling novel challenges. </a:t>
            </a:r>
          </a:p>
          <a:p>
            <a:r>
              <a:rPr lang="en-US"/>
              <a:t>In contrast, crystallized intelligence involves the application of accumulated knowledge and experience to solve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ABC15-1525-7D4B-B5A5-197DDA9131B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06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urst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1560-08DC-9E07-2DDF-47F92BA32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922" y="1440862"/>
            <a:ext cx="6602858" cy="2387600"/>
          </a:xfrm>
        </p:spPr>
        <p:txBody>
          <a:bodyPr anchor="b"/>
          <a:lstStyle>
            <a:lvl1pPr algn="l">
              <a:defRPr sz="6000">
                <a:solidFill>
                  <a:srgbClr val="24323E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A049B-015C-8484-CC52-6C3B8F519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922" y="3920537"/>
            <a:ext cx="6602858" cy="1282084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24323E"/>
                </a:solidFill>
                <a:latin typeface="Franklin Gothic Medium" panose="020B06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A black background with dots&#10;&#10;AI-generated content may be incorrect.">
            <a:extLst>
              <a:ext uri="{FF2B5EF4-FFF2-40B4-BE49-F238E27FC236}">
                <a16:creationId xmlns:a16="http://schemas.microsoft.com/office/drawing/2014/main" id="{3A79D9C0-5AF4-257A-5930-2509585541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8027" b="40402"/>
          <a:stretch>
            <a:fillRect/>
          </a:stretch>
        </p:blipFill>
        <p:spPr>
          <a:xfrm>
            <a:off x="7228745" y="2085052"/>
            <a:ext cx="4963255" cy="4772948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2A3A568-F6DE-0CE8-3FC8-001FFD80A2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8850" y="5602288"/>
            <a:ext cx="6602413" cy="714375"/>
          </a:xfrm>
        </p:spPr>
        <p:txBody>
          <a:bodyPr>
            <a:noAutofit/>
          </a:bodyPr>
          <a:lstStyle>
            <a:lvl1pPr marL="0" indent="0">
              <a:buNone/>
              <a:defRPr sz="1800" b="0" i="1">
                <a:solidFill>
                  <a:srgbClr val="24323E"/>
                </a:solidFill>
                <a:latin typeface="Franklin Gothic Book" panose="020B0503020102020204" pitchFamily="34" charset="0"/>
              </a:defRPr>
            </a:lvl1pPr>
            <a:lvl2pPr marL="457200" indent="0">
              <a:buNone/>
              <a:defRPr sz="1600" b="0" i="1">
                <a:latin typeface="Franklin Gothic Medium" panose="020B0603020102020204" pitchFamily="34" charset="0"/>
              </a:defRPr>
            </a:lvl2pPr>
            <a:lvl3pPr marL="914400" indent="0">
              <a:buNone/>
              <a:defRPr sz="1400" b="0" i="1">
                <a:latin typeface="Franklin Gothic Medium" panose="020B0603020102020204" pitchFamily="34" charset="0"/>
              </a:defRPr>
            </a:lvl3pPr>
            <a:lvl4pPr marL="1371600" indent="0">
              <a:buNone/>
              <a:defRPr sz="1200" b="0" i="1">
                <a:latin typeface="Franklin Gothic Medium" panose="020B0603020102020204" pitchFamily="34" charset="0"/>
              </a:defRPr>
            </a:lvl4pPr>
            <a:lvl5pPr marL="1828800" indent="0">
              <a:buNone/>
              <a:defRPr sz="1200" b="0" i="1">
                <a:latin typeface="Franklin Gothic Medium" panose="020B0603020102020204" pitchFamily="34" charset="0"/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775A29-4E6A-29DB-3F8A-2FC126C87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206" y="668200"/>
            <a:ext cx="4512029" cy="32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5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looking at a computer&#10;&#10;AI-generated content may be incorrect.">
            <a:extLst>
              <a:ext uri="{FF2B5EF4-FFF2-40B4-BE49-F238E27FC236}">
                <a16:creationId xmlns:a16="http://schemas.microsoft.com/office/drawing/2014/main" id="{40BFFB97-747B-D055-D5D7-4988C4B83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003" b="4621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FEDE57-E835-D804-B4AD-AF2170C1B483}"/>
              </a:ext>
            </a:extLst>
          </p:cNvPr>
          <p:cNvSpPr/>
          <p:nvPr userDrawn="1"/>
        </p:nvSpPr>
        <p:spPr>
          <a:xfrm>
            <a:off x="0" y="-2"/>
            <a:ext cx="7609114" cy="6858001"/>
          </a:xfrm>
          <a:prstGeom prst="rect">
            <a:avLst/>
          </a:prstGeom>
          <a:solidFill>
            <a:srgbClr val="EF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77B9B3AF-87F5-FFEC-2574-5B8208DAF6C2}"/>
              </a:ext>
            </a:extLst>
          </p:cNvPr>
          <p:cNvSpPr/>
          <p:nvPr userDrawn="1"/>
        </p:nvSpPr>
        <p:spPr>
          <a:xfrm rot="5400000">
            <a:off x="4898570" y="2710542"/>
            <a:ext cx="6858002" cy="1436914"/>
          </a:xfrm>
          <a:prstGeom prst="triangle">
            <a:avLst/>
          </a:prstGeom>
          <a:solidFill>
            <a:srgbClr val="EF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A049B-015C-8484-CC52-6C3B8F519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9058" y="4230780"/>
            <a:ext cx="5546942" cy="1282084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24323E"/>
                </a:solidFill>
                <a:latin typeface="Franklin Gothic Medium" panose="020B06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D1560-08DC-9E07-2DDF-47F92BA32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058" y="1751105"/>
            <a:ext cx="5546942" cy="2387600"/>
          </a:xfrm>
        </p:spPr>
        <p:txBody>
          <a:bodyPr anchor="b"/>
          <a:lstStyle>
            <a:lvl1pPr algn="l">
              <a:defRPr sz="6000">
                <a:solidFill>
                  <a:srgbClr val="24323E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3C4FEA-B176-282D-4F16-1B7692B94A80}"/>
              </a:ext>
            </a:extLst>
          </p:cNvPr>
          <p:cNvGrpSpPr/>
          <p:nvPr userDrawn="1"/>
        </p:nvGrpSpPr>
        <p:grpSpPr>
          <a:xfrm>
            <a:off x="6906988" y="-2"/>
            <a:ext cx="1518557" cy="6858000"/>
            <a:chOff x="6809014" y="-2"/>
            <a:chExt cx="1518557" cy="68580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47AEFD4-EA2C-B035-9CAA-514134E0D4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09014" y="-2"/>
              <a:ext cx="1518557" cy="3429002"/>
            </a:xfrm>
            <a:prstGeom prst="line">
              <a:avLst/>
            </a:prstGeom>
            <a:ln>
              <a:solidFill>
                <a:srgbClr val="24323E">
                  <a:alpha val="3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998AC4D-8533-95AC-1245-61EC8997B8A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896100" y="3428998"/>
              <a:ext cx="1431471" cy="3429000"/>
            </a:xfrm>
            <a:prstGeom prst="line">
              <a:avLst/>
            </a:prstGeom>
            <a:ln>
              <a:solidFill>
                <a:srgbClr val="24323E">
                  <a:alpha val="3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03267F2-1F3B-05E7-216B-D5716BF94BAB}"/>
              </a:ext>
            </a:extLst>
          </p:cNvPr>
          <p:cNvGrpSpPr/>
          <p:nvPr userDrawn="1"/>
        </p:nvGrpSpPr>
        <p:grpSpPr>
          <a:xfrm>
            <a:off x="6275617" y="5762"/>
            <a:ext cx="1518557" cy="6858000"/>
            <a:chOff x="6809014" y="-2"/>
            <a:chExt cx="1518557" cy="68580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33929F5-C637-4F32-BE44-F65D636B5F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09014" y="-2"/>
              <a:ext cx="1518557" cy="3429002"/>
            </a:xfrm>
            <a:prstGeom prst="line">
              <a:avLst/>
            </a:prstGeom>
            <a:ln>
              <a:solidFill>
                <a:srgbClr val="24323E">
                  <a:alpha val="3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1924821-E899-F4E1-B92F-99DFBE754BC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896100" y="3428998"/>
              <a:ext cx="1431471" cy="3429000"/>
            </a:xfrm>
            <a:prstGeom prst="line">
              <a:avLst/>
            </a:prstGeom>
            <a:ln>
              <a:solidFill>
                <a:srgbClr val="24323E">
                  <a:alpha val="3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F60D2A2-B8DB-2E40-B977-1F91456B498E}"/>
              </a:ext>
            </a:extLst>
          </p:cNvPr>
          <p:cNvGrpSpPr/>
          <p:nvPr userDrawn="1"/>
        </p:nvGrpSpPr>
        <p:grpSpPr>
          <a:xfrm>
            <a:off x="8096246" y="2881"/>
            <a:ext cx="1518557" cy="6858000"/>
            <a:chOff x="6809014" y="-2"/>
            <a:chExt cx="1518557" cy="685800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CE68AE6-8A5D-9A97-E80B-CCA2A4DBA6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09014" y="-2"/>
              <a:ext cx="1518557" cy="3429002"/>
            </a:xfrm>
            <a:prstGeom prst="line">
              <a:avLst/>
            </a:prstGeom>
            <a:ln>
              <a:solidFill>
                <a:srgbClr val="24323E">
                  <a:alpha val="3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69955A2-DF3A-1682-ECCB-ACF86CF3A99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896100" y="3428998"/>
              <a:ext cx="1431471" cy="3429000"/>
            </a:xfrm>
            <a:prstGeom prst="line">
              <a:avLst/>
            </a:prstGeom>
            <a:ln>
              <a:solidFill>
                <a:srgbClr val="24323E">
                  <a:alpha val="3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242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06" y="365126"/>
            <a:ext cx="10124301" cy="70693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063" y="1825625"/>
            <a:ext cx="8373824" cy="4351338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FEC449A-9D00-C94E-755D-FA78033C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8A11C-356B-EB26-FEA9-6EAB605543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  <p:pic>
        <p:nvPicPr>
          <p:cNvPr id="4" name="Picture 3" descr="A black background with dots&#10;&#10;AI-generated content may be incorrect.">
            <a:extLst>
              <a:ext uri="{FF2B5EF4-FFF2-40B4-BE49-F238E27FC236}">
                <a16:creationId xmlns:a16="http://schemas.microsoft.com/office/drawing/2014/main" id="{A10F9948-51D3-6E2A-AD35-2D00426C4D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 r="-116" b="50003"/>
          <a:stretch>
            <a:fillRect/>
          </a:stretch>
        </p:blipFill>
        <p:spPr>
          <a:xfrm rot="5400000">
            <a:off x="-1094244" y="2744912"/>
            <a:ext cx="4371502" cy="218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7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ircular design with dots&#10;&#10;AI-generated content may be incorrect.">
            <a:extLst>
              <a:ext uri="{FF2B5EF4-FFF2-40B4-BE49-F238E27FC236}">
                <a16:creationId xmlns:a16="http://schemas.microsoft.com/office/drawing/2014/main" id="{F1F18570-F058-0CC5-2C59-E196DD943E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1" r="40299" b="43867"/>
          <a:stretch>
            <a:fillRect/>
          </a:stretch>
        </p:blipFill>
        <p:spPr>
          <a:xfrm>
            <a:off x="8004748" y="2931499"/>
            <a:ext cx="4187252" cy="3926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535" y="365126"/>
            <a:ext cx="10124301" cy="70693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86" y="1825625"/>
            <a:ext cx="10124301" cy="4351338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rgbClr val="24323E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D5BCAE-FF76-AA53-D036-BD82241F99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4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Right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nual Input 4">
            <a:extLst>
              <a:ext uri="{FF2B5EF4-FFF2-40B4-BE49-F238E27FC236}">
                <a16:creationId xmlns:a16="http://schemas.microsoft.com/office/drawing/2014/main" id="{AFCE571F-04F7-4F29-625F-A26C90F5034C}"/>
              </a:ext>
            </a:extLst>
          </p:cNvPr>
          <p:cNvSpPr/>
          <p:nvPr userDrawn="1"/>
        </p:nvSpPr>
        <p:spPr>
          <a:xfrm rot="16200000">
            <a:off x="7815943" y="2481943"/>
            <a:ext cx="6857999" cy="1894114"/>
          </a:xfrm>
          <a:prstGeom prst="flowChartManualInput">
            <a:avLst/>
          </a:prstGeom>
          <a:solidFill>
            <a:srgbClr val="2432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536" y="365126"/>
            <a:ext cx="8809639" cy="70693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87" y="1825625"/>
            <a:ext cx="8809639" cy="4351338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circular pattern of small dots&#10;&#10;AI-generated content may be incorrect.">
            <a:extLst>
              <a:ext uri="{FF2B5EF4-FFF2-40B4-BE49-F238E27FC236}">
                <a16:creationId xmlns:a16="http://schemas.microsoft.com/office/drawing/2014/main" id="{04541E32-0A1A-4AE4-C0F9-7DFE648EDB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r="27628" b="-7571"/>
          <a:stretch>
            <a:fillRect/>
          </a:stretch>
        </p:blipFill>
        <p:spPr>
          <a:xfrm>
            <a:off x="9621275" y="-1843476"/>
            <a:ext cx="3923083" cy="583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9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Left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508A9CD-03C9-0D12-E413-7E21FE487B7A}"/>
              </a:ext>
            </a:extLst>
          </p:cNvPr>
          <p:cNvGrpSpPr/>
          <p:nvPr userDrawn="1"/>
        </p:nvGrpSpPr>
        <p:grpSpPr>
          <a:xfrm flipH="1">
            <a:off x="0" y="0"/>
            <a:ext cx="4070342" cy="6874329"/>
            <a:chOff x="8121658" y="0"/>
            <a:chExt cx="4070342" cy="6874329"/>
          </a:xfrm>
        </p:grpSpPr>
        <p:sp>
          <p:nvSpPr>
            <p:cNvPr id="8" name="Manual Input 7">
              <a:extLst>
                <a:ext uri="{FF2B5EF4-FFF2-40B4-BE49-F238E27FC236}">
                  <a16:creationId xmlns:a16="http://schemas.microsoft.com/office/drawing/2014/main" id="{01D1C328-5D72-5E9C-0C39-A48883D31208}"/>
                </a:ext>
              </a:extLst>
            </p:cNvPr>
            <p:cNvSpPr/>
            <p:nvPr userDrawn="1"/>
          </p:nvSpPr>
          <p:spPr>
            <a:xfrm rot="16200000">
              <a:off x="7815943" y="2481943"/>
              <a:ext cx="6857999" cy="1894114"/>
            </a:xfrm>
            <a:prstGeom prst="flowChartManualInput">
              <a:avLst/>
            </a:prstGeom>
            <a:solidFill>
              <a:srgbClr val="24323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2E5C4C6C-5285-ADD6-2E01-DBEE45CE7D4F}"/>
                </a:ext>
              </a:extLst>
            </p:cNvPr>
            <p:cNvSpPr/>
            <p:nvPr userDrawn="1"/>
          </p:nvSpPr>
          <p:spPr>
            <a:xfrm flipH="1">
              <a:off x="8121658" y="0"/>
              <a:ext cx="3169728" cy="6874329"/>
            </a:xfrm>
            <a:prstGeom prst="parallelogram">
              <a:avLst>
                <a:gd name="adj" fmla="val 309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677" y="365126"/>
            <a:ext cx="8929393" cy="70693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677" y="1825624"/>
            <a:ext cx="8929393" cy="4582517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Picture 15" descr="A circular pattern of small dots&#10;&#10;AI-generated content may be incorrect.">
            <a:extLst>
              <a:ext uri="{FF2B5EF4-FFF2-40B4-BE49-F238E27FC236}">
                <a16:creationId xmlns:a16="http://schemas.microsoft.com/office/drawing/2014/main" id="{4E6AAA5F-40A6-288F-99E2-A893BC2D6C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r="-768" b="-7571"/>
          <a:stretch>
            <a:fillRect/>
          </a:stretch>
        </p:blipFill>
        <p:spPr>
          <a:xfrm>
            <a:off x="-2272351" y="-1353647"/>
            <a:ext cx="4544701" cy="485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1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ue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06" y="365126"/>
            <a:ext cx="10124301" cy="70693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86" y="1825625"/>
            <a:ext cx="10124301" cy="4351338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FEC449A-9D00-C94E-755D-FA78033C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8A11C-356B-EB26-FEA9-6EAB605543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0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Lights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looking at a computer&#10;&#10;AI-generated content may be incorrect.">
            <a:extLst>
              <a:ext uri="{FF2B5EF4-FFF2-40B4-BE49-F238E27FC236}">
                <a16:creationId xmlns:a16="http://schemas.microsoft.com/office/drawing/2014/main" id="{B48D02D5-646E-3E29-99D9-E583C6A7FD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4180"/>
          <a:stretch>
            <a:fillRect/>
          </a:stretch>
        </p:blipFill>
        <p:spPr>
          <a:xfrm>
            <a:off x="9535886" y="0"/>
            <a:ext cx="2656113" cy="6858000"/>
          </a:xfrm>
          <a:prstGeom prst="rect">
            <a:avLst/>
          </a:prstGeom>
        </p:spPr>
      </p:pic>
      <p:sp>
        <p:nvSpPr>
          <p:cNvPr id="5" name="Parallelogram 4">
            <a:extLst>
              <a:ext uri="{FF2B5EF4-FFF2-40B4-BE49-F238E27FC236}">
                <a16:creationId xmlns:a16="http://schemas.microsoft.com/office/drawing/2014/main" id="{A5D91B03-48D8-58D6-0771-B2E0B1484F00}"/>
              </a:ext>
            </a:extLst>
          </p:cNvPr>
          <p:cNvSpPr/>
          <p:nvPr userDrawn="1"/>
        </p:nvSpPr>
        <p:spPr>
          <a:xfrm flipH="1">
            <a:off x="8476000" y="0"/>
            <a:ext cx="2251990" cy="6858000"/>
          </a:xfrm>
          <a:prstGeom prst="parallelogram">
            <a:avLst>
              <a:gd name="adj" fmla="val 46433"/>
            </a:avLst>
          </a:prstGeom>
          <a:solidFill>
            <a:srgbClr val="EF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06" y="365126"/>
            <a:ext cx="8163498" cy="70693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86" y="1825625"/>
            <a:ext cx="8163498" cy="4351338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FEC449A-9D00-C94E-755D-FA78033C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3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LightsDark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 4">
            <a:extLst>
              <a:ext uri="{FF2B5EF4-FFF2-40B4-BE49-F238E27FC236}">
                <a16:creationId xmlns:a16="http://schemas.microsoft.com/office/drawing/2014/main" id="{A5D91B03-48D8-58D6-0771-B2E0B1484F00}"/>
              </a:ext>
            </a:extLst>
          </p:cNvPr>
          <p:cNvSpPr/>
          <p:nvPr userDrawn="1"/>
        </p:nvSpPr>
        <p:spPr>
          <a:xfrm flipH="1">
            <a:off x="8476000" y="0"/>
            <a:ext cx="2251990" cy="6858000"/>
          </a:xfrm>
          <a:prstGeom prst="parallelogram">
            <a:avLst>
              <a:gd name="adj" fmla="val 46433"/>
            </a:avLst>
          </a:prstGeom>
          <a:solidFill>
            <a:srgbClr val="EF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tall light sculpture in a building&#10;&#10;AI-generated content may be incorrect.">
            <a:extLst>
              <a:ext uri="{FF2B5EF4-FFF2-40B4-BE49-F238E27FC236}">
                <a16:creationId xmlns:a16="http://schemas.microsoft.com/office/drawing/2014/main" id="{06CD362D-FF67-CF9F-3538-25818C0214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125" r="22499"/>
          <a:stretch>
            <a:fillRect/>
          </a:stretch>
        </p:blipFill>
        <p:spPr>
          <a:xfrm>
            <a:off x="9601200" y="0"/>
            <a:ext cx="2590801" cy="6858000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61DDC183-7914-1926-9D06-6C04A1B3010A}"/>
              </a:ext>
            </a:extLst>
          </p:cNvPr>
          <p:cNvSpPr/>
          <p:nvPr userDrawn="1"/>
        </p:nvSpPr>
        <p:spPr>
          <a:xfrm flipH="1">
            <a:off x="8476000" y="0"/>
            <a:ext cx="2251990" cy="6858000"/>
          </a:xfrm>
          <a:prstGeom prst="parallelogram">
            <a:avLst>
              <a:gd name="adj" fmla="val 46433"/>
            </a:avLst>
          </a:prstGeom>
          <a:solidFill>
            <a:srgbClr val="EF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B4795866-EEA2-8289-C846-DDB97143D6FC}"/>
              </a:ext>
            </a:extLst>
          </p:cNvPr>
          <p:cNvSpPr/>
          <p:nvPr userDrawn="1"/>
        </p:nvSpPr>
        <p:spPr>
          <a:xfrm flipH="1">
            <a:off x="9454911" y="0"/>
            <a:ext cx="1333590" cy="6858000"/>
          </a:xfrm>
          <a:prstGeom prst="parallelogram">
            <a:avLst>
              <a:gd name="adj" fmla="val 80374"/>
            </a:avLst>
          </a:prstGeom>
          <a:solidFill>
            <a:srgbClr val="2432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06" y="365126"/>
            <a:ext cx="8163498" cy="70693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86" y="1825625"/>
            <a:ext cx="8163498" cy="4351338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FEC449A-9D00-C94E-755D-FA78033C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1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010" y="365126"/>
            <a:ext cx="10124301" cy="70693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86" y="1825624"/>
            <a:ext cx="4584110" cy="4383087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11FB0B-8B3C-95D1-6E06-3CBE214844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1665" y="1825625"/>
            <a:ext cx="4864749" cy="4383087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1AC671-3CD5-2651-9A5B-60DB9E4AEE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dots&#10;&#10;AI-generated content may be incorrect.">
            <a:extLst>
              <a:ext uri="{FF2B5EF4-FFF2-40B4-BE49-F238E27FC236}">
                <a16:creationId xmlns:a16="http://schemas.microsoft.com/office/drawing/2014/main" id="{7BAB2B88-D652-3C8C-CE18-E41A03CA93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983" t="47766" r="-116" b="6"/>
          <a:stretch>
            <a:fillRect/>
          </a:stretch>
        </p:blipFill>
        <p:spPr>
          <a:xfrm rot="5400000">
            <a:off x="9035224" y="27136"/>
            <a:ext cx="3183909" cy="31296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121" y="1667439"/>
            <a:ext cx="9079759" cy="2132533"/>
          </a:xfrm>
        </p:spPr>
        <p:txBody>
          <a:bodyPr anchor="t" anchorCtr="0">
            <a:noAutofit/>
          </a:bodyPr>
          <a:lstStyle>
            <a:lvl1pPr algn="l">
              <a:defRPr sz="32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4A07B8-F878-0824-C123-58EB26F470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82500" y="4672603"/>
            <a:ext cx="3495387" cy="79859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914400" indent="0" algn="ctr">
              <a:buNone/>
              <a:defRPr sz="1800" i="1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371600" indent="0" algn="ctr">
              <a:buNone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1828800" indent="0" algn="ctr">
              <a:buNone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E22197-3671-7E50-BDCA-2AB48D53B9F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6121" y="4314317"/>
            <a:ext cx="1515163" cy="15151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32B34-1F8B-DDB9-BE2E-250E1C4E45FA}"/>
              </a:ext>
            </a:extLst>
          </p:cNvPr>
          <p:cNvSpPr txBox="1"/>
          <p:nvPr userDrawn="1"/>
        </p:nvSpPr>
        <p:spPr>
          <a:xfrm>
            <a:off x="1457928" y="184237"/>
            <a:ext cx="93072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>
                <a:solidFill>
                  <a:srgbClr val="24323E"/>
                </a:solidFill>
                <a:latin typeface="FranklinGothicURWComDem" pitchFamily="2" charset="77"/>
              </a:rPr>
              <a:t>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3E4AF-C50E-30CD-3268-C7B59DA550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03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dots&#10;&#10;AI-generated content may be incorrect.">
            <a:extLst>
              <a:ext uri="{FF2B5EF4-FFF2-40B4-BE49-F238E27FC236}">
                <a16:creationId xmlns:a16="http://schemas.microsoft.com/office/drawing/2014/main" id="{89B8B8A6-252E-38D7-D4EA-C6C63F3748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 r="-116" b="6"/>
          <a:stretch>
            <a:fillRect/>
          </a:stretch>
        </p:blipFill>
        <p:spPr>
          <a:xfrm rot="5400000">
            <a:off x="8020129" y="633608"/>
            <a:ext cx="3553491" cy="3549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122" y="1667439"/>
            <a:ext cx="5584372" cy="3998574"/>
          </a:xfrm>
        </p:spPr>
        <p:txBody>
          <a:bodyPr anchor="t" anchorCtr="0">
            <a:noAutofit/>
          </a:bodyPr>
          <a:lstStyle>
            <a:lvl1pPr algn="l">
              <a:defRPr sz="32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4A07B8-F878-0824-C123-58EB26F470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22351" y="3853549"/>
            <a:ext cx="2532109" cy="798590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914400" indent="0" algn="ctr">
              <a:buNone/>
              <a:defRPr sz="1800" i="1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371600" indent="0" algn="ctr">
              <a:buNone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1828800" indent="0" algn="ctr">
              <a:buNone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E22197-3671-7E50-BDCA-2AB48D53B9F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39294" y="1667439"/>
            <a:ext cx="1515163" cy="15151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32B34-1F8B-DDB9-BE2E-250E1C4E45FA}"/>
              </a:ext>
            </a:extLst>
          </p:cNvPr>
          <p:cNvSpPr txBox="1"/>
          <p:nvPr userDrawn="1"/>
        </p:nvSpPr>
        <p:spPr>
          <a:xfrm>
            <a:off x="1441599" y="184237"/>
            <a:ext cx="93072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>
                <a:solidFill>
                  <a:srgbClr val="24323E"/>
                </a:solidFill>
                <a:latin typeface="FranklinGothicURWComDem" pitchFamily="2" charset="77"/>
              </a:rPr>
              <a:t>“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4826F-1BDE-3064-7631-8118563D2E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62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dots&#10;&#10;AI-generated content may be incorrect.">
            <a:extLst>
              <a:ext uri="{FF2B5EF4-FFF2-40B4-BE49-F238E27FC236}">
                <a16:creationId xmlns:a16="http://schemas.microsoft.com/office/drawing/2014/main" id="{C0CE0375-B1A8-9712-97A6-C054AEB3F4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 r="-116" b="6"/>
          <a:stretch>
            <a:fillRect/>
          </a:stretch>
        </p:blipFill>
        <p:spPr>
          <a:xfrm rot="5400000">
            <a:off x="351506" y="801301"/>
            <a:ext cx="4371502" cy="43660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5" y="1667438"/>
            <a:ext cx="5835055" cy="4325147"/>
          </a:xfrm>
        </p:spPr>
        <p:txBody>
          <a:bodyPr anchor="t" anchorCtr="0">
            <a:noAutofit/>
          </a:bodyPr>
          <a:lstStyle>
            <a:lvl1pPr algn="l">
              <a:defRPr sz="32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4A07B8-F878-0824-C123-58EB26F470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9775" y="4835977"/>
            <a:ext cx="3495387" cy="79859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914400" indent="0" algn="ctr">
              <a:buNone/>
              <a:defRPr sz="1800" i="1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371600" indent="0" algn="ctr">
              <a:buNone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1828800" indent="0" algn="ctr">
              <a:buNone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E22197-3671-7E50-BDCA-2AB48D53B9F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45034" y="1700651"/>
            <a:ext cx="2623769" cy="262376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32B34-1F8B-DDB9-BE2E-250E1C4E45FA}"/>
              </a:ext>
            </a:extLst>
          </p:cNvPr>
          <p:cNvSpPr txBox="1"/>
          <p:nvPr userDrawn="1"/>
        </p:nvSpPr>
        <p:spPr>
          <a:xfrm>
            <a:off x="5339441" y="102593"/>
            <a:ext cx="93072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>
                <a:solidFill>
                  <a:srgbClr val="24323E"/>
                </a:solidFill>
                <a:latin typeface="FranklinGothicURWComDem" pitchFamily="2" charset="77"/>
              </a:rPr>
              <a:t>“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EBE659-EB51-8772-582E-9D719C9AA7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1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56C85C-5534-73CE-63DA-3C15EF1997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875" b="21875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113" y="1961353"/>
            <a:ext cx="6705601" cy="2132533"/>
          </a:xfrm>
        </p:spPr>
        <p:txBody>
          <a:bodyPr anchor="ctr" anchorCtr="0">
            <a:noAutofit/>
          </a:bodyPr>
          <a:lstStyle>
            <a:lvl1pPr algn="ctr">
              <a:defRPr sz="32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4A07B8-F878-0824-C123-58EB26F470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91114" y="4253349"/>
            <a:ext cx="6705600" cy="375930"/>
          </a:xfrm>
        </p:spPr>
        <p:txBody>
          <a:bodyPr>
            <a:noAutofit/>
          </a:bodyPr>
          <a:lstStyle>
            <a:lvl1pPr marL="0" indent="0" algn="ctr">
              <a:buNone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914400" indent="0" algn="ctr">
              <a:buNone/>
              <a:defRPr sz="1800" i="1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371600" indent="0" algn="ctr">
              <a:buNone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1828800" indent="0" algn="ctr">
              <a:buNone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E75B64-75FE-CF23-C123-86D657B897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606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56C85C-5534-73CE-63DA-3C15EF1997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875" b="21875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833" y="1058010"/>
            <a:ext cx="8330334" cy="3666390"/>
          </a:xfrm>
        </p:spPr>
        <p:txBody>
          <a:bodyPr anchor="ctr" anchorCtr="0">
            <a:noAutofit/>
          </a:bodyPr>
          <a:lstStyle>
            <a:lvl1pPr algn="ctr">
              <a:defRPr sz="32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4A07B8-F878-0824-C123-58EB26F470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0" y="4964063"/>
            <a:ext cx="6705600" cy="375930"/>
          </a:xfrm>
        </p:spPr>
        <p:txBody>
          <a:bodyPr>
            <a:noAutofit/>
          </a:bodyPr>
          <a:lstStyle>
            <a:lvl1pPr marL="0" indent="0" algn="ctr">
              <a:buNone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914400" indent="0" algn="ctr">
              <a:buNone/>
              <a:defRPr sz="1800" i="1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371600" indent="0" algn="ctr">
              <a:buNone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1828800" indent="0" algn="ctr">
              <a:buNone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83B1E6-314C-9C16-38B2-F5D1BB094C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62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Quad Number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BF3E4AC-1681-109C-F124-3BED22C26D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875" b="21875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D89CF0-0F33-7377-075A-9FE85285A4E0}"/>
              </a:ext>
            </a:extLst>
          </p:cNvPr>
          <p:cNvSpPr/>
          <p:nvPr userDrawn="1"/>
        </p:nvSpPr>
        <p:spPr>
          <a:xfrm>
            <a:off x="439800" y="1535081"/>
            <a:ext cx="2608549" cy="4358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4DA1EF-E3CB-4402-847D-2A54B14CA2A1}"/>
              </a:ext>
            </a:extLst>
          </p:cNvPr>
          <p:cNvSpPr/>
          <p:nvPr userDrawn="1"/>
        </p:nvSpPr>
        <p:spPr>
          <a:xfrm>
            <a:off x="3331804" y="1535081"/>
            <a:ext cx="2608549" cy="4358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82A7D0-91F1-6BDA-6005-97ED036CAD0C}"/>
              </a:ext>
            </a:extLst>
          </p:cNvPr>
          <p:cNvSpPr/>
          <p:nvPr userDrawn="1"/>
        </p:nvSpPr>
        <p:spPr>
          <a:xfrm>
            <a:off x="6223808" y="1535081"/>
            <a:ext cx="2608549" cy="4358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8F0A9-1F81-9652-B18D-916A9538818D}"/>
              </a:ext>
            </a:extLst>
          </p:cNvPr>
          <p:cNvSpPr/>
          <p:nvPr userDrawn="1"/>
        </p:nvSpPr>
        <p:spPr>
          <a:xfrm>
            <a:off x="9115812" y="1535081"/>
            <a:ext cx="2608549" cy="4358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86" y="365126"/>
            <a:ext cx="10124301" cy="70693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79" y="2529443"/>
            <a:ext cx="2245186" cy="3146961"/>
          </a:xfrm>
          <a:noFill/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90F354C-372D-23A8-2662-B7C629341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25" y="1785938"/>
            <a:ext cx="2244725" cy="534987"/>
          </a:xfrm>
        </p:spPr>
        <p:txBody>
          <a:bodyPr/>
          <a:lstStyle>
            <a:lvl1pPr marL="0" indent="0">
              <a:buNone/>
              <a:defRPr sz="3600" b="1" i="0">
                <a:solidFill>
                  <a:schemeClr val="accent1"/>
                </a:solidFill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en-US"/>
              <a:t>01.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C200A64-A601-04A5-CB38-B0B525D95F7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1298" y="2529443"/>
            <a:ext cx="2245186" cy="3146961"/>
          </a:xfrm>
          <a:noFill/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F6BB7A0-D345-71B7-305E-F27BB67538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11444" y="1785938"/>
            <a:ext cx="2244725" cy="534987"/>
          </a:xfrm>
        </p:spPr>
        <p:txBody>
          <a:bodyPr/>
          <a:lstStyle>
            <a:lvl1pPr marL="0" indent="0">
              <a:buNone/>
              <a:defRPr sz="3600" b="1" i="0">
                <a:solidFill>
                  <a:schemeClr val="accent1"/>
                </a:solidFill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en-US"/>
              <a:t>02.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C186510-C9A6-BCE6-895B-16E07CA02543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403302" y="2529443"/>
            <a:ext cx="2245186" cy="3146961"/>
          </a:xfrm>
          <a:noFill/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9039DC6C-F5BC-6E81-192D-E5440739EE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3448" y="1785938"/>
            <a:ext cx="2244725" cy="534987"/>
          </a:xfrm>
        </p:spPr>
        <p:txBody>
          <a:bodyPr/>
          <a:lstStyle>
            <a:lvl1pPr marL="0" indent="0">
              <a:buNone/>
              <a:defRPr sz="3600" b="1" i="0">
                <a:solidFill>
                  <a:schemeClr val="accent1"/>
                </a:solidFill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en-US"/>
              <a:t>03.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F535598-5B2A-6F54-5174-B4BFFCD5B14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299553" y="2529443"/>
            <a:ext cx="2245186" cy="3146961"/>
          </a:xfrm>
          <a:noFill/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75724E27-5886-67E7-82E2-7CB0F1F51F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9699" y="1785938"/>
            <a:ext cx="2244725" cy="534987"/>
          </a:xfrm>
        </p:spPr>
        <p:txBody>
          <a:bodyPr/>
          <a:lstStyle>
            <a:lvl1pPr marL="0" indent="0">
              <a:buNone/>
              <a:defRPr sz="3600" b="1" i="0">
                <a:solidFill>
                  <a:schemeClr val="accent1"/>
                </a:solidFill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en-US"/>
              <a:t>04.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6E5E50-A9DB-9530-4E99-5E3AB969C7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24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Quad Icon"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D89CF0-0F33-7377-075A-9FE85285A4E0}"/>
              </a:ext>
            </a:extLst>
          </p:cNvPr>
          <p:cNvSpPr/>
          <p:nvPr userDrawn="1"/>
        </p:nvSpPr>
        <p:spPr>
          <a:xfrm>
            <a:off x="439800" y="1535081"/>
            <a:ext cx="2608549" cy="4358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4DA1EF-E3CB-4402-847D-2A54B14CA2A1}"/>
              </a:ext>
            </a:extLst>
          </p:cNvPr>
          <p:cNvSpPr/>
          <p:nvPr userDrawn="1"/>
        </p:nvSpPr>
        <p:spPr>
          <a:xfrm>
            <a:off x="3331804" y="1535081"/>
            <a:ext cx="2608549" cy="4358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82A7D0-91F1-6BDA-6005-97ED036CAD0C}"/>
              </a:ext>
            </a:extLst>
          </p:cNvPr>
          <p:cNvSpPr/>
          <p:nvPr userDrawn="1"/>
        </p:nvSpPr>
        <p:spPr>
          <a:xfrm>
            <a:off x="6223808" y="1535081"/>
            <a:ext cx="2608549" cy="4358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8F0A9-1F81-9652-B18D-916A9538818D}"/>
              </a:ext>
            </a:extLst>
          </p:cNvPr>
          <p:cNvSpPr/>
          <p:nvPr userDrawn="1"/>
        </p:nvSpPr>
        <p:spPr>
          <a:xfrm>
            <a:off x="9115812" y="1535081"/>
            <a:ext cx="2608549" cy="4358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86" y="365126"/>
            <a:ext cx="10124301" cy="70693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79" y="2529443"/>
            <a:ext cx="2245186" cy="3146961"/>
          </a:xfrm>
          <a:noFill/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C200A64-A601-04A5-CB38-B0B525D95F7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1298" y="2529443"/>
            <a:ext cx="2245186" cy="3146961"/>
          </a:xfrm>
          <a:noFill/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C186510-C9A6-BCE6-895B-16E07CA02543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403302" y="2529443"/>
            <a:ext cx="2245186" cy="3146961"/>
          </a:xfrm>
          <a:noFill/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F535598-5B2A-6F54-5174-B4BFFCD5B14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299553" y="2529443"/>
            <a:ext cx="2245186" cy="3146961"/>
          </a:xfrm>
          <a:noFill/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buClr>
                <a:schemeClr val="accent1"/>
              </a:buClr>
              <a:defRPr sz="14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499D3F1-E969-C4D2-8216-73499906E74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864" y="1689100"/>
            <a:ext cx="633413" cy="631825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B0525FEE-6076-0BDE-43CA-1A0E30515C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511298" y="1689100"/>
            <a:ext cx="633413" cy="63182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F12B1A9-3DDF-567A-34F8-DFBC0B62C45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12554" y="1689099"/>
            <a:ext cx="633413" cy="631825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3A69048A-6B0C-1867-EA69-B32EE7A2265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8805" y="1689099"/>
            <a:ext cx="633413" cy="631825"/>
          </a:xfrm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E193BE-85E0-D1C5-53C8-131FCD413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17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ED14B400-F551-15BA-4DB5-BDE8B7170795}"/>
              </a:ext>
            </a:extLst>
          </p:cNvPr>
          <p:cNvSpPr/>
          <p:nvPr userDrawn="1"/>
        </p:nvSpPr>
        <p:spPr>
          <a:xfrm>
            <a:off x="-516835" y="0"/>
            <a:ext cx="3971316" cy="6858000"/>
          </a:xfrm>
          <a:prstGeom prst="parallelogram">
            <a:avLst>
              <a:gd name="adj" fmla="val 13127"/>
            </a:avLst>
          </a:prstGeom>
          <a:solidFill>
            <a:srgbClr val="2432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36C78-DB7A-EEB9-A849-B0C77D62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4422" y="365126"/>
            <a:ext cx="7425465" cy="1281112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9A8-318D-29CC-1E9A-E529E3C8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4422" y="1825625"/>
            <a:ext cx="7425465" cy="4351338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8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defRPr sz="16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B927-9325-E284-2EFE-EFFDBB3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141" y="6408142"/>
            <a:ext cx="676610" cy="365125"/>
          </a:xfrm>
        </p:spPr>
        <p:txBody>
          <a:bodyPr rIns="0"/>
          <a:lstStyle>
            <a:lvl1pPr algn="ctr">
              <a:defRPr sz="140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fld id="{39B07726-2800-9647-8D0A-D77AC1CE49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BE2EC3-7068-9B7F-CC70-A7C298BD76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6474" y="365126"/>
            <a:ext cx="2364639" cy="2018585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  <a:lvl2pPr marL="457200" indent="0">
              <a:buNone/>
              <a:defRPr sz="3600">
                <a:solidFill>
                  <a:schemeClr val="accent1"/>
                </a:solidFill>
                <a:latin typeface="Franklin Gothic Medium" panose="020B0603020102020204" pitchFamily="34" charset="0"/>
              </a:defRPr>
            </a:lvl2pPr>
            <a:lvl3pPr marL="914400" indent="0">
              <a:buNone/>
              <a:defRPr sz="3200">
                <a:solidFill>
                  <a:schemeClr val="accent1"/>
                </a:solidFill>
                <a:latin typeface="Franklin Gothic Medium" panose="020B0603020102020204" pitchFamily="34" charset="0"/>
              </a:defRPr>
            </a:lvl3pPr>
            <a:lvl4pPr marL="1371600" indent="0">
              <a:buNone/>
              <a:defRPr sz="2800">
                <a:solidFill>
                  <a:schemeClr val="accent1"/>
                </a:solidFill>
                <a:latin typeface="Franklin Gothic Medium" panose="020B0603020102020204" pitchFamily="34" charset="0"/>
              </a:defRPr>
            </a:lvl4pPr>
            <a:lvl5pPr marL="1828800" indent="0">
              <a:buNone/>
              <a:defRPr sz="2800">
                <a:solidFill>
                  <a:schemeClr val="accent1"/>
                </a:solidFill>
                <a:latin typeface="Franklin Gothic Medium" panose="020B0603020102020204" pitchFamily="34" charset="0"/>
              </a:defRPr>
            </a:lvl5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47263-0D40-75CC-5922-4A601AEEAB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6186" y="2543175"/>
            <a:ext cx="2364639" cy="36337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Franklin Gothic Book" panose="020B05030201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Franklin Gothic Book" panose="020B05030201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Franklin Gothic Book" panose="020B05030201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4F243-667A-B0EA-81E9-6166E9091A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412" y="6502858"/>
            <a:ext cx="2323475" cy="1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26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2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AD221E-9E0B-2746-941C-B6B95C24C4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10267" y="1947334"/>
            <a:ext cx="8771467" cy="2963333"/>
          </a:xfrm>
          <a:prstGeom prst="rect">
            <a:avLst/>
          </a:prstGeom>
        </p:spPr>
        <p:txBody>
          <a:bodyPr vert="horz"/>
          <a:lstStyle>
            <a:lvl1pPr marL="380990" indent="-380990" algn="ctr">
              <a:buFont typeface="Arial"/>
              <a:buChar char="•"/>
              <a:defRPr sz="1867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58800"/>
            <a:ext cx="10972800" cy="8128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cap="all">
                <a:solidFill>
                  <a:srgbClr val="E46C0A"/>
                </a:solidFill>
                <a:latin typeface="ITC Franklin Gothic Std Demi Condensed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85573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C3621F-0F8D-0AAE-7686-5716F1A1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2D7D5-EFDA-EDC6-8CB4-671F1462B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C2B16-1B60-5A8C-2DAE-A5592E112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795672-50CD-4F49-9632-0430FFDC6225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0633A-B7D0-6C23-FEB8-E99E55ED8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42FA6-5CE8-D30B-DE03-102288693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07726-2800-9647-8D0A-D77AC1CE4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0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1" r:id="rId2"/>
    <p:sldLayoutId id="2147483694" r:id="rId3"/>
    <p:sldLayoutId id="2147483683" r:id="rId4"/>
    <p:sldLayoutId id="2147483692" r:id="rId5"/>
    <p:sldLayoutId id="2147483685" r:id="rId6"/>
    <p:sldLayoutId id="2147483660" r:id="rId7"/>
    <p:sldLayoutId id="2147483680" r:id="rId8"/>
    <p:sldLayoutId id="2147483693" r:id="rId9"/>
    <p:sldLayoutId id="2147483666" r:id="rId10"/>
    <p:sldLayoutId id="2147483686" r:id="rId11"/>
    <p:sldLayoutId id="2147483687" r:id="rId12"/>
    <p:sldLayoutId id="2147483688" r:id="rId13"/>
    <p:sldLayoutId id="2147483671" r:id="rId14"/>
    <p:sldLayoutId id="2147483672" r:id="rId15"/>
    <p:sldLayoutId id="2147483668" r:id="rId16"/>
    <p:sldLayoutId id="2147483669" r:id="rId17"/>
    <p:sldLayoutId id="2147483670" r:id="rId18"/>
    <p:sldLayoutId id="214748369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nbillab.github.io/nbillab.io/index.html" TargetMode="External"/><Relationship Id="rId5" Type="http://schemas.openxmlformats.org/officeDocument/2006/relationships/hyperlink" Target="https://aiying0512.github.io/" TargetMode="Externa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5.png"/><Relationship Id="rId1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7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3_290ACA8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6A2F-8CB3-88AA-8319-D527E43FF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921" y="1440861"/>
            <a:ext cx="9322763" cy="247191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i="1" err="1"/>
              <a:t>ConnectMVR</a:t>
            </a:r>
            <a:r>
              <a:rPr lang="en-US" sz="4400" i="1"/>
              <a:t>: A Supervised Brain Connectivity Analysis Framework for Predicting Behavioral Outcomes</a:t>
            </a: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8C347-D7CA-4754-AF27-C2DD6F2C4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850" y="4141610"/>
            <a:ext cx="6602858" cy="996075"/>
          </a:xfrm>
        </p:spPr>
        <p:txBody>
          <a:bodyPr/>
          <a:lstStyle/>
          <a:p>
            <a:r>
              <a:rPr lang="en-US"/>
              <a:t>Present by</a:t>
            </a:r>
          </a:p>
          <a:p>
            <a:r>
              <a:rPr lang="en-US"/>
              <a:t>Aiying Zhang &amp; Chang Li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342A8-C367-04A0-9CD8-F084282DDA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850" y="5281455"/>
            <a:ext cx="6159240" cy="714375"/>
          </a:xfrm>
        </p:spPr>
        <p:txBody>
          <a:bodyPr/>
          <a:lstStyle/>
          <a:p>
            <a:r>
              <a:rPr lang="en-US"/>
              <a:t>@ the Design and Data Analysis (DADA) meeting</a:t>
            </a:r>
          </a:p>
          <a:p>
            <a:r>
              <a:rPr lang="en-US"/>
              <a:t>Nov 6, 2025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4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E609F-745C-F572-BE45-ED6D05D3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6DCB3-510B-30FE-ED77-6C27D216C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884" y="1024472"/>
            <a:ext cx="3442208" cy="4146296"/>
          </a:xfrm>
          <a:prstGeom prst="rect">
            <a:avLst/>
          </a:prstGeom>
        </p:spPr>
      </p:pic>
      <p:pic>
        <p:nvPicPr>
          <p:cNvPr id="6" name="Graphic 5" descr="DNA with solid fill">
            <a:extLst>
              <a:ext uri="{FF2B5EF4-FFF2-40B4-BE49-F238E27FC236}">
                <a16:creationId xmlns:a16="http://schemas.microsoft.com/office/drawing/2014/main" id="{239822E6-2ED8-A912-BAB7-E800839AF8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2112" y="2506797"/>
            <a:ext cx="914400" cy="914400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34EC2CDA-9BB9-373B-718F-19DFFBDD6767}"/>
              </a:ext>
            </a:extLst>
          </p:cNvPr>
          <p:cNvSpPr/>
          <p:nvPr/>
        </p:nvSpPr>
        <p:spPr>
          <a:xfrm rot="5400000">
            <a:off x="8337297" y="2473203"/>
            <a:ext cx="225393" cy="2300151"/>
          </a:xfrm>
          <a:prstGeom prst="leftBrac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309829-F507-E9EB-B7F5-14A854C522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99" t="11883" r="43275" b="16279"/>
          <a:stretch/>
        </p:blipFill>
        <p:spPr>
          <a:xfrm>
            <a:off x="7046086" y="3735976"/>
            <a:ext cx="2757239" cy="22287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293DC1-E860-2116-AD77-12F336F6AAC8}"/>
              </a:ext>
            </a:extLst>
          </p:cNvPr>
          <p:cNvSpPr txBox="1"/>
          <p:nvPr/>
        </p:nvSpPr>
        <p:spPr>
          <a:xfrm>
            <a:off x="2735459" y="657682"/>
            <a:ext cx="6162752" cy="75405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err="1"/>
              <a:t>NeuroBioInformatics</a:t>
            </a:r>
            <a:r>
              <a:rPr lang="en-US" sz="2000" b="1"/>
              <a:t> Lab (NBIL)</a:t>
            </a:r>
          </a:p>
          <a:p>
            <a:pPr algn="ctr"/>
            <a:endParaRPr lang="en-US" sz="500" b="1"/>
          </a:p>
          <a:p>
            <a:pPr algn="ctr"/>
            <a:r>
              <a:rPr lang="en-US" sz="1600" b="1"/>
              <a:t> Aiying Zhang</a:t>
            </a:r>
            <a:r>
              <a:rPr lang="en-US" sz="1600"/>
              <a:t>, Assistant Professor</a:t>
            </a:r>
            <a:endParaRPr lang="en-US" sz="160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BDFD6-1266-46C6-B6A8-0A5D07C6858B}"/>
              </a:ext>
            </a:extLst>
          </p:cNvPr>
          <p:cNvSpPr txBox="1"/>
          <p:nvPr/>
        </p:nvSpPr>
        <p:spPr>
          <a:xfrm>
            <a:off x="887851" y="1559098"/>
            <a:ext cx="5380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i="1"/>
              <a:t>Homepage</a:t>
            </a:r>
            <a:r>
              <a:rPr lang="en-US" altLang="zh-CN" sz="1600"/>
              <a:t>: </a:t>
            </a:r>
            <a:r>
              <a:rPr lang="en-US" altLang="zh-CN" sz="1600">
                <a:hlinkClick r:id="rId5"/>
              </a:rPr>
              <a:t>https://aiying0512.github.io/</a:t>
            </a:r>
            <a:endParaRPr lang="en-US" altLang="zh-CN" sz="1600"/>
          </a:p>
          <a:p>
            <a:r>
              <a:rPr lang="en-US" sz="1600"/>
              <a:t>Lab page: </a:t>
            </a:r>
            <a:r>
              <a:rPr lang="en-US" sz="1600">
                <a:hlinkClick r:id="rId6"/>
              </a:rPr>
              <a:t>https://nbillab.github.io/nbillab.io/index.html</a:t>
            </a:r>
            <a:endParaRPr lang="en-US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247D0C-1F6B-D957-FEC4-57F9DD512844}"/>
              </a:ext>
            </a:extLst>
          </p:cNvPr>
          <p:cNvSpPr txBox="1"/>
          <p:nvPr/>
        </p:nvSpPr>
        <p:spPr>
          <a:xfrm>
            <a:off x="496965" y="2583593"/>
            <a:ext cx="6162752" cy="3381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867" b="1" u="sng">
                <a:ea typeface="宋体"/>
              </a:rPr>
              <a:t>Research</a:t>
            </a:r>
            <a:r>
              <a:rPr lang="zh-CN" altLang="en-US" sz="1867" b="1" u="sng">
                <a:ea typeface="宋体"/>
              </a:rPr>
              <a:t> </a:t>
            </a:r>
            <a:r>
              <a:rPr lang="en-US" altLang="zh-CN" sz="1867" b="1" u="sng">
                <a:ea typeface="宋体"/>
              </a:rPr>
              <a:t>Interests: </a:t>
            </a:r>
          </a:p>
          <a:p>
            <a:pPr algn="ctr">
              <a:lnSpc>
                <a:spcPct val="150000"/>
              </a:lnSpc>
            </a:pPr>
            <a:r>
              <a:rPr lang="en-US" altLang="zh-CN" sz="1867" b="1" u="sng">
                <a:ea typeface="宋体"/>
              </a:rPr>
              <a:t>Mental Health Data Science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867">
                <a:ea typeface="宋体"/>
                <a:cs typeface="Arial"/>
              </a:rPr>
              <a:t>Developing statistical and ML/AI approaches leveraging multi-modal imaging and multi-omics to understand typical and atypical brain development.</a:t>
            </a:r>
          </a:p>
          <a:p>
            <a:pPr marL="342891" indent="-34289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867">
                <a:ea typeface="宋体"/>
                <a:cs typeface="Arial"/>
              </a:rPr>
              <a:t>Network Analysis and Graphical Models</a:t>
            </a:r>
          </a:p>
          <a:p>
            <a:pPr marL="342891" indent="-34289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867">
                <a:ea typeface="宋体"/>
                <a:cs typeface="Arial"/>
              </a:rPr>
              <a:t>Multimodal Fusion</a:t>
            </a:r>
          </a:p>
          <a:p>
            <a:pPr marL="342891" indent="-34289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867">
                <a:ea typeface="宋体"/>
                <a:cs typeface="Arial"/>
              </a:rPr>
              <a:t>Causal Inference</a:t>
            </a:r>
          </a:p>
          <a:p>
            <a:pPr marL="342891" indent="-34289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867">
                <a:ea typeface="宋体"/>
                <a:cs typeface="Arial"/>
              </a:rPr>
              <a:t>Longitudinal Analysis</a:t>
            </a:r>
          </a:p>
        </p:txBody>
      </p:sp>
    </p:spTree>
    <p:extLst>
      <p:ext uri="{BB962C8B-B14F-4D97-AF65-F5344CB8AC3E}">
        <p14:creationId xmlns:p14="http://schemas.microsoft.com/office/powerpoint/2010/main" val="2592482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D923-1DF2-1BF8-972A-702CFB16C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535" y="365126"/>
            <a:ext cx="10124301" cy="1333258"/>
          </a:xfrm>
        </p:spPr>
        <p:txBody>
          <a:bodyPr/>
          <a:lstStyle/>
          <a:p>
            <a:r>
              <a:rPr lang="en-US"/>
              <a:t>Functional magnetic resonance imaging (fMRI)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D7BD8-D3AB-1D51-CCA6-48DD8E06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89DE7FB-9CDB-29A6-CE3B-7BF3C07BC5AF}"/>
              </a:ext>
            </a:extLst>
          </p:cNvPr>
          <p:cNvSpPr txBox="1">
            <a:spLocks/>
          </p:cNvSpPr>
          <p:nvPr/>
        </p:nvSpPr>
        <p:spPr>
          <a:xfrm>
            <a:off x="1002535" y="1915808"/>
            <a:ext cx="4869530" cy="2751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Basics</a:t>
            </a:r>
          </a:p>
          <a:p>
            <a:pPr marL="285750" indent="-285750"/>
            <a:r>
              <a:rPr lang="en-US" sz="1800"/>
              <a:t>Blood-Oxygen-Level-Dependent (BOLD) Signal</a:t>
            </a:r>
          </a:p>
          <a:p>
            <a:pPr marL="285750" indent="-285750"/>
            <a:r>
              <a:rPr lang="en-US" sz="1800"/>
              <a:t>Temporal and Spatial Resolution:</a:t>
            </a:r>
          </a:p>
          <a:p>
            <a:pPr marL="1028700" lvl="1"/>
            <a:r>
              <a:rPr lang="en-US" sz="1800"/>
              <a:t>Temporal: 0.6 - 3 seconds.</a:t>
            </a:r>
          </a:p>
          <a:p>
            <a:pPr marL="1028700" lvl="1"/>
            <a:r>
              <a:rPr lang="en-US" sz="1800"/>
              <a:t>Spatial: Can localize activity to regions of a few millimeters.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E0F938-BB0C-AADB-B987-2AB550349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71" y="4335488"/>
            <a:ext cx="4168077" cy="2286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85AC62-118E-734A-93F0-338AB3986B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819"/>
          <a:stretch/>
        </p:blipFill>
        <p:spPr>
          <a:xfrm>
            <a:off x="1214289" y="4379698"/>
            <a:ext cx="2859272" cy="2028444"/>
          </a:xfrm>
          <a:prstGeom prst="rect">
            <a:avLst/>
          </a:prstGeom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D3C19B6-FC84-0587-B541-662638C59CA1}"/>
              </a:ext>
            </a:extLst>
          </p:cNvPr>
          <p:cNvSpPr txBox="1">
            <a:spLocks/>
          </p:cNvSpPr>
          <p:nvPr/>
        </p:nvSpPr>
        <p:spPr>
          <a:xfrm>
            <a:off x="6140075" y="1277776"/>
            <a:ext cx="4986760" cy="36072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Paradigms of fMRI</a:t>
            </a:r>
          </a:p>
          <a:p>
            <a:pPr marL="285750" indent="-285750"/>
            <a:r>
              <a:rPr lang="en-US" sz="1800"/>
              <a:t>Resting-state:</a:t>
            </a:r>
          </a:p>
          <a:p>
            <a:pPr marL="0" indent="0">
              <a:buNone/>
            </a:pPr>
            <a:r>
              <a:rPr lang="en-US" sz="1800"/>
              <a:t>Measures intrinsic activity in the brain when not performing a specific task</a:t>
            </a:r>
          </a:p>
          <a:p>
            <a:pPr marL="0" indent="0">
              <a:buNone/>
            </a:pPr>
            <a:r>
              <a:rPr lang="en-US" sz="1800"/>
              <a:t>Default Mode Network, Salience Network, Executive Control Network</a:t>
            </a:r>
          </a:p>
          <a:p>
            <a:pPr marL="285750" indent="-285750"/>
            <a:r>
              <a:rPr lang="en-US" sz="1800"/>
              <a:t>Task-based: Explores how different brain regions coordinate during specific tasks</a:t>
            </a:r>
          </a:p>
          <a:p>
            <a:pPr marL="1028700" lvl="1">
              <a:buFont typeface="Wingdings" pitchFamily="2" charset="2"/>
              <a:buChar char="ü"/>
            </a:pPr>
            <a:r>
              <a:rPr lang="en-US" sz="1800"/>
              <a:t>Memory retrieval</a:t>
            </a:r>
          </a:p>
          <a:p>
            <a:pPr marL="1028700" lvl="1">
              <a:buFont typeface="Wingdings" pitchFamily="2" charset="2"/>
              <a:buChar char="ü"/>
            </a:pPr>
            <a:r>
              <a:rPr lang="en-US" sz="1800"/>
              <a:t>Emotion identification</a:t>
            </a:r>
          </a:p>
          <a:p>
            <a:pPr marL="1028700" lvl="1">
              <a:buFont typeface="Wingdings" pitchFamily="2" charset="2"/>
              <a:buChar char="ü"/>
            </a:pPr>
            <a:r>
              <a:rPr lang="en-US" sz="1800"/>
              <a:t>Etc..</a:t>
            </a:r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23766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EA05-1B67-9905-7FBC-138B96F3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849" y="577777"/>
            <a:ext cx="10124301" cy="706930"/>
          </a:xfrm>
        </p:spPr>
        <p:txBody>
          <a:bodyPr/>
          <a:lstStyle/>
          <a:p>
            <a:r>
              <a:rPr lang="en-US"/>
              <a:t>Functional Connectivity (FC)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A2D44-396A-346B-A6A0-69BA626DE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D50441F-4584-202D-0D55-77C60712F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848" y="1645270"/>
            <a:ext cx="10124301" cy="4851622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/>
              <a:t>Graph theory for studying brain networks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Brain          Graph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Node: regions of interests (ROIs)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Edges: inter-connections</a:t>
            </a:r>
            <a:endParaRPr lang="en-US" b="1"/>
          </a:p>
          <a:p>
            <a:pPr marL="0" indent="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Functional Connectivity (FC):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/>
              <a:t>Statistical dependencies between ROIs based on their activity patterns.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/>
              <a:t>It provides insights into how brain regions interact and work together to support various cognitive and physiological processes.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/>
          </a:p>
          <a:p>
            <a:pPr>
              <a:spcAft>
                <a:spcPts val="0"/>
              </a:spcAft>
            </a:pPr>
            <a:endParaRPr lang="en-US"/>
          </a:p>
          <a:p>
            <a:pPr>
              <a:spcAft>
                <a:spcPts val="0"/>
              </a:spcAft>
            </a:pPr>
            <a:endParaRPr lang="en-US"/>
          </a:p>
          <a:p>
            <a:pPr>
              <a:spcAft>
                <a:spcPts val="0"/>
              </a:spcAft>
            </a:pP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649FBC-5235-A15B-5EA5-B8A5DA8CA7A7}"/>
              </a:ext>
            </a:extLst>
          </p:cNvPr>
          <p:cNvCxnSpPr>
            <a:cxnSpLocks/>
          </p:cNvCxnSpPr>
          <p:nvPr/>
        </p:nvCxnSpPr>
        <p:spPr>
          <a:xfrm>
            <a:off x="2195487" y="2545417"/>
            <a:ext cx="548640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AAL116">
            <a:hlinkClick r:id="" action="ppaction://media"/>
            <a:extLst>
              <a:ext uri="{FF2B5EF4-FFF2-40B4-BE49-F238E27FC236}">
                <a16:creationId xmlns:a16="http://schemas.microsoft.com/office/drawing/2014/main" id="{0FBF237E-772C-6197-5483-907B5C7696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9586" y="800117"/>
            <a:ext cx="3151411" cy="22895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418B34-30EC-0A66-FCAB-E06E8CE93D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071" y="3286589"/>
            <a:ext cx="1430857" cy="12092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2D5024-4468-6EF7-F76C-5C4C20963F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2336" y="3377933"/>
            <a:ext cx="1063246" cy="1026609"/>
          </a:xfrm>
          <a:prstGeom prst="rect">
            <a:avLst/>
          </a:prstGeom>
          <a:ln>
            <a:solidFill>
              <a:schemeClr val="accent2">
                <a:shade val="15000"/>
              </a:schemeClr>
            </a:solidFill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66DF57-AF34-1500-47ED-20D89FA9E01B}"/>
              </a:ext>
            </a:extLst>
          </p:cNvPr>
          <p:cNvCxnSpPr>
            <a:cxnSpLocks/>
          </p:cNvCxnSpPr>
          <p:nvPr/>
        </p:nvCxnSpPr>
        <p:spPr>
          <a:xfrm>
            <a:off x="9890230" y="3830083"/>
            <a:ext cx="4087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DA5807F-C9D7-EA30-7120-9DC0A3B0529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5329" t="8973" r="26413" b="72863"/>
          <a:stretch/>
        </p:blipFill>
        <p:spPr>
          <a:xfrm>
            <a:off x="8082842" y="3518682"/>
            <a:ext cx="472971" cy="74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3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9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3AD9-3F3B-966F-041E-563EEF37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89" y="567148"/>
            <a:ext cx="11103622" cy="783187"/>
          </a:xfrm>
        </p:spPr>
        <p:txBody>
          <a:bodyPr/>
          <a:lstStyle/>
          <a:p>
            <a:r>
              <a:rPr lang="en-US"/>
              <a:t>Link FC with Behaviors -- Statistical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5A5D3-C22E-A175-A8A4-182ED11A38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3907" y="1696934"/>
                <a:ext cx="5657304" cy="4391247"/>
              </a:xfrm>
            </p:spPr>
            <p:txBody>
              <a:bodyPr/>
              <a:lstStyle/>
              <a:p>
                <a:r>
                  <a:rPr lang="en-US" b="1" dirty="0"/>
                  <a:t>Use edge as input</a:t>
                </a:r>
              </a:p>
              <a:p>
                <a:pPr lvl="1"/>
                <a:r>
                  <a:rPr lang="en-US" b="1" dirty="0"/>
                  <a:t>Connectome-based Predictive Modeling (CPM)*</a:t>
                </a:r>
              </a:p>
              <a:p>
                <a:r>
                  <a:rPr lang="en-US" b="1" dirty="0"/>
                  <a:t>Cons:</a:t>
                </a:r>
              </a:p>
              <a:p>
                <a:pPr lvl="1"/>
                <a:r>
                  <a:rPr lang="en-US" b="1" dirty="0"/>
                  <a:t>Treat each connectivity as an independent feature ignoring their correlations</a:t>
                </a:r>
              </a:p>
              <a:p>
                <a:pPr lvl="1"/>
                <a:r>
                  <a:rPr lang="en-US" b="1" dirty="0"/>
                  <a:t>High-dimensional feature space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, </a:t>
                </a:r>
              </a:p>
              <a:p>
                <a:pPr lvl="1"/>
                <a:r>
                  <a:rPr lang="en-US" b="1" dirty="0"/>
                  <a:t>Difficult to interpret at network level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5A5D3-C22E-A175-A8A4-182ED11A38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3907" y="1696934"/>
                <a:ext cx="5657304" cy="4391247"/>
              </a:xfrm>
              <a:blipFill>
                <a:blip r:embed="rId2"/>
                <a:stretch>
                  <a:fillRect l="-1570" t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D807B-86C9-AF47-9807-D7EB8E22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0D3D6-C607-9C54-6B1C-EC0CF8E7F9B0}"/>
              </a:ext>
            </a:extLst>
          </p:cNvPr>
          <p:cNvSpPr txBox="1"/>
          <p:nvPr/>
        </p:nvSpPr>
        <p:spPr>
          <a:xfrm>
            <a:off x="452216" y="6375260"/>
            <a:ext cx="86598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Shen, X., Finn, E.S., Scheinost, D., Rosenberg, M.D., Chun, M.M., </a:t>
            </a:r>
            <a:r>
              <a:rPr lang="en-US" sz="1100" b="0" i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Papademetris</a:t>
            </a:r>
            <a:r>
              <a:rPr lang="en-US" sz="11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X. and Constable, R.T., 2017. Using connectome-based predictive modeling to predict individual behavior from brain connectivity. </a:t>
            </a:r>
            <a:r>
              <a:rPr lang="en-US" sz="11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protocols</a:t>
            </a:r>
            <a:r>
              <a:rPr lang="en-US" sz="11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1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12</a:t>
            </a:r>
            <a:r>
              <a:rPr lang="en-US" sz="11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(3), pp.506-518.</a:t>
            </a:r>
            <a:endParaRPr lang="en-US" sz="1100"/>
          </a:p>
        </p:txBody>
      </p:sp>
      <p:pic>
        <p:nvPicPr>
          <p:cNvPr id="1030" name="Picture 6" descr="Figure 1">
            <a:extLst>
              <a:ext uri="{FF2B5EF4-FFF2-40B4-BE49-F238E27FC236}">
                <a16:creationId xmlns:a16="http://schemas.microsoft.com/office/drawing/2014/main" id="{8FD13EC8-CE45-F20F-EB1B-032D2B5BE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211" y="1643278"/>
            <a:ext cx="6067443" cy="439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183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6F00F-1BA6-A2E9-A14A-9F429AEE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7E93-FA48-E284-8D19-41A6A046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535" y="567148"/>
            <a:ext cx="10124301" cy="706930"/>
          </a:xfrm>
        </p:spPr>
        <p:txBody>
          <a:bodyPr/>
          <a:lstStyle/>
          <a:p>
            <a:r>
              <a:rPr lang="en-US"/>
              <a:t>Link FC with Behaviors – DL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52CB7-43DB-8B6F-738C-2FFB7CEC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138B82-772C-7FB4-4047-EE8FD110BFF7}"/>
              </a:ext>
            </a:extLst>
          </p:cNvPr>
          <p:cNvSpPr txBox="1">
            <a:spLocks/>
          </p:cNvSpPr>
          <p:nvPr/>
        </p:nvSpPr>
        <p:spPr>
          <a:xfrm>
            <a:off x="1002535" y="1540774"/>
            <a:ext cx="494106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Graph Neural Network (GNN)</a:t>
            </a:r>
          </a:p>
          <a:p>
            <a:pPr lvl="1"/>
            <a:r>
              <a:rPr lang="en-US" b="1"/>
              <a:t>Graph convolutional network</a:t>
            </a:r>
          </a:p>
          <a:p>
            <a:pPr lvl="1"/>
            <a:r>
              <a:rPr lang="en-US" b="1"/>
              <a:t>Graph attention network</a:t>
            </a:r>
          </a:p>
          <a:p>
            <a:pPr lvl="1"/>
            <a:r>
              <a:rPr lang="en-US" b="1"/>
              <a:t>Graph Transformer</a:t>
            </a:r>
          </a:p>
          <a:p>
            <a:r>
              <a:rPr lang="en-US" b="1"/>
              <a:t>Cons:</a:t>
            </a:r>
          </a:p>
          <a:p>
            <a:pPr lvl="1"/>
            <a:r>
              <a:rPr lang="en-US" b="1"/>
              <a:t>Limited statistical inference capability</a:t>
            </a:r>
          </a:p>
          <a:p>
            <a:pPr lvl="1"/>
            <a:r>
              <a:rPr lang="en-US" b="1"/>
              <a:t>Challenging interpretability and transparency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0FD7BD-F579-7308-3ED2-FD7936138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169" t="11558"/>
          <a:stretch>
            <a:fillRect/>
          </a:stretch>
        </p:blipFill>
        <p:spPr>
          <a:xfrm>
            <a:off x="4667694" y="5059910"/>
            <a:ext cx="1920565" cy="17543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CA1FA4-258C-4772-5899-5657D35CF4F3}"/>
              </a:ext>
            </a:extLst>
          </p:cNvPr>
          <p:cNvSpPr txBox="1"/>
          <p:nvPr/>
        </p:nvSpPr>
        <p:spPr>
          <a:xfrm>
            <a:off x="1988961" y="5752430"/>
            <a:ext cx="3352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Graph Neural Network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0E776F-B97D-7916-6533-0839800C0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54" y="6089863"/>
            <a:ext cx="4493447" cy="5727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7D43C13-2DB9-6737-A961-68AF375FE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80404"/>
            <a:ext cx="5292633" cy="39371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5BF8011-77F8-FA56-454D-CEF316F13B7D}"/>
              </a:ext>
            </a:extLst>
          </p:cNvPr>
          <p:cNvSpPr txBox="1"/>
          <p:nvPr/>
        </p:nvSpPr>
        <p:spPr>
          <a:xfrm>
            <a:off x="7524307" y="5422753"/>
            <a:ext cx="487843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Arial" panose="020B0604020202020204" pitchFamily="34" charset="0"/>
              </a:rPr>
              <a:t>Qu, G., </a:t>
            </a:r>
            <a:r>
              <a:rPr lang="en-US" sz="1100" err="1">
                <a:solidFill>
                  <a:srgbClr val="222222"/>
                </a:solidFill>
                <a:latin typeface="Arial" panose="020B0604020202020204" pitchFamily="34" charset="0"/>
              </a:rPr>
              <a:t>Orlichenko</a:t>
            </a:r>
            <a:r>
              <a:rPr lang="en-US" sz="1100">
                <a:solidFill>
                  <a:srgbClr val="222222"/>
                </a:solidFill>
                <a:latin typeface="Arial" panose="020B0604020202020204" pitchFamily="34" charset="0"/>
              </a:rPr>
              <a:t>, A., Wang, J., Zhang, G., Xiao, L., Zhang, K., Wilson, T.W., Stephen, J.M., Calhoun, V.D. and Wang, Y.P., 2023. Interpretable cognitive ability prediction: A comprehensive gated graph transformer framework for analyzing functional brain networks. IEEE transactions on medical imaging, 43(4), pp.1568-1578.</a:t>
            </a:r>
          </a:p>
        </p:txBody>
      </p:sp>
    </p:spTree>
    <p:extLst>
      <p:ext uri="{BB962C8B-B14F-4D97-AF65-F5344CB8AC3E}">
        <p14:creationId xmlns:p14="http://schemas.microsoft.com/office/powerpoint/2010/main" val="1021598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87FE-D22B-13AF-3546-C883693E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40" y="1906847"/>
            <a:ext cx="10124301" cy="706930"/>
          </a:xfrm>
        </p:spPr>
        <p:txBody>
          <a:bodyPr/>
          <a:lstStyle/>
          <a:p>
            <a:r>
              <a:rPr lang="en-US" dirty="0"/>
              <a:t>Challenge 1 – Matrix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7F817-4244-8E21-B649-6E4A74159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840" y="2888880"/>
            <a:ext cx="10124301" cy="143857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Develop a graph-based predictive model that enables straightforward interpretation at both node and edge levels and allows valid statistical inference.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A52E9-121A-E5B8-3AF7-AFB63A01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93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2368-18E6-C957-E925-F09C1506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849" y="758531"/>
            <a:ext cx="10124301" cy="706930"/>
          </a:xfrm>
        </p:spPr>
        <p:txBody>
          <a:bodyPr/>
          <a:lstStyle/>
          <a:p>
            <a:r>
              <a:rPr lang="en-US"/>
              <a:t>Multi-Graph -- Dynamic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46C89-5E0B-D961-ACC0-AFE32339A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Different FC estimation methods</a:t>
            </a:r>
          </a:p>
          <a:p>
            <a:r>
              <a:rPr lang="en-US"/>
              <a:t>Dynamic FC</a:t>
            </a:r>
          </a:p>
          <a:p>
            <a:pPr lvl="1"/>
            <a:r>
              <a:rPr lang="en-US"/>
              <a:t>Capture time-varying patterns of brain connectivity</a:t>
            </a:r>
          </a:p>
          <a:p>
            <a:pPr lvl="1"/>
            <a:r>
              <a:rPr lang="en-US"/>
              <a:t>More informative, reflects dynamic neural processes and cognitive flexibility</a:t>
            </a:r>
          </a:p>
          <a:p>
            <a:r>
              <a:rPr lang="en-US"/>
              <a:t>Effective connectivity</a:t>
            </a:r>
          </a:p>
          <a:p>
            <a:pPr lvl="1"/>
            <a:r>
              <a:rPr lang="en-US"/>
              <a:t>Granger causality – Vector Autoregressive model (VAR)</a:t>
            </a:r>
          </a:p>
          <a:p>
            <a:pPr lvl="1"/>
            <a:r>
              <a:rPr lang="en-US"/>
              <a:t>Temporal Lags – multiple (directed)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FB68E-B2D6-8725-2D3C-89BE9881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4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6AF8-33B3-3D7B-7531-08FB6050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849" y="681037"/>
            <a:ext cx="10124301" cy="706930"/>
          </a:xfrm>
        </p:spPr>
        <p:txBody>
          <a:bodyPr/>
          <a:lstStyle/>
          <a:p>
            <a:r>
              <a:rPr lang="en-US"/>
              <a:t>Multi-Graph -- Multi-paradigm fMRI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A765-78ED-6CC4-3359-E463E2B33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Concept:</a:t>
            </a:r>
          </a:p>
          <a:p>
            <a:pPr lvl="1"/>
            <a:r>
              <a:rPr lang="en-US"/>
              <a:t>Different fMRI paradigms (e.g., resting-state, emotional task, memory retrieval) capture distinct yet related brain connectivity patterns.</a:t>
            </a:r>
          </a:p>
          <a:p>
            <a:r>
              <a:rPr lang="en-US"/>
              <a:t>Advantages:</a:t>
            </a:r>
          </a:p>
          <a:p>
            <a:pPr lvl="1"/>
            <a:r>
              <a:rPr lang="en-US"/>
              <a:t>Captures </a:t>
            </a:r>
            <a:r>
              <a:rPr lang="en-US" b="1"/>
              <a:t>complementary neural processes</a:t>
            </a:r>
            <a:r>
              <a:rPr lang="en-US"/>
              <a:t> across paradigms.</a:t>
            </a:r>
          </a:p>
          <a:p>
            <a:pPr lvl="1"/>
            <a:r>
              <a:rPr lang="en-US"/>
              <a:t>Enables </a:t>
            </a:r>
            <a:r>
              <a:rPr lang="en-US" b="1"/>
              <a:t>integration</a:t>
            </a:r>
            <a:r>
              <a:rPr lang="en-US"/>
              <a:t> of multiple functional states for prediction.</a:t>
            </a:r>
          </a:p>
          <a:p>
            <a:pPr lvl="1"/>
            <a:r>
              <a:rPr lang="en-US"/>
              <a:t>Models </a:t>
            </a:r>
            <a:r>
              <a:rPr lang="en-US" b="1"/>
              <a:t>shared and unique</a:t>
            </a:r>
            <a:r>
              <a:rPr lang="en-US"/>
              <a:t> network organization across tasks.</a:t>
            </a:r>
          </a:p>
          <a:p>
            <a:pPr lvl="1"/>
            <a:r>
              <a:rPr lang="en-US"/>
              <a:t>Provides </a:t>
            </a:r>
            <a:r>
              <a:rPr lang="en-US" b="1"/>
              <a:t>richer, more robust</a:t>
            </a:r>
            <a:r>
              <a:rPr lang="en-US"/>
              <a:t> brain representations than single-paradigm analyses.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A4F57-8C1F-3BA2-87F0-7C776192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02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B0A50-1F37-4849-1956-168F727E8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849" y="681037"/>
            <a:ext cx="10124301" cy="706930"/>
          </a:xfrm>
        </p:spPr>
        <p:txBody>
          <a:bodyPr/>
          <a:lstStyle/>
          <a:p>
            <a:r>
              <a:rPr lang="en-US"/>
              <a:t>Multi-Graph -- Multi-modal MRI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D95C1-574B-1674-A2AE-26FDA84B7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54" y="1573619"/>
            <a:ext cx="8117515" cy="5199648"/>
          </a:xfrm>
        </p:spPr>
        <p:txBody>
          <a:bodyPr/>
          <a:lstStyle/>
          <a:p>
            <a:r>
              <a:rPr lang="en-US" b="1"/>
              <a:t>Structural Connectivity (SC) as a Scaffold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White matter tracts physically connect different brain regions, providing the pathways for neural communication.</a:t>
            </a:r>
          </a:p>
          <a:p>
            <a:r>
              <a:rPr lang="en-US"/>
              <a:t>Diffusion MRI: measures the diffusion of water molecules in the brain</a:t>
            </a:r>
          </a:p>
          <a:p>
            <a:pPr lvl="1"/>
            <a:r>
              <a:rPr lang="en-US"/>
              <a:t>Water diffuses more easily along the direction of white matter fibers than perpendicular to them, allowing us to infer the structure of these tracts.</a:t>
            </a:r>
          </a:p>
          <a:p>
            <a:pPr lvl="1"/>
            <a:r>
              <a:rPr lang="en-US"/>
              <a:t>Fiber Tractography: Reconstructs white matter pathways by following the principal diffusion directions across voxels</a:t>
            </a:r>
          </a:p>
          <a:p>
            <a:pPr lvl="1"/>
            <a:r>
              <a:rPr lang="en-US"/>
              <a:t>SC: combining tractography with brain parcellation schemes, represents the strength of white matter connections between two ROIs.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2B5BA-E8DE-908A-7895-1027ABBA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" name="Picture 2" descr="Gray and white matter of the brain: MedlinePlus Medical ...">
            <a:extLst>
              <a:ext uri="{FF2B5EF4-FFF2-40B4-BE49-F238E27FC236}">
                <a16:creationId xmlns:a16="http://schemas.microsoft.com/office/drawing/2014/main" id="{FA599282-9891-0132-2F46-719C7737A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603" y="615659"/>
            <a:ext cx="2477843" cy="198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69E89B-DF03-22B5-9026-D7A8528F04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19" r="7843"/>
          <a:stretch/>
        </p:blipFill>
        <p:spPr>
          <a:xfrm>
            <a:off x="10585146" y="3405415"/>
            <a:ext cx="1198198" cy="1157354"/>
          </a:xfrm>
          <a:prstGeom prst="rect">
            <a:avLst/>
          </a:prstGeom>
          <a:ln>
            <a:solidFill>
              <a:schemeClr val="accent2">
                <a:shade val="1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2FE78D-9B8B-1438-D032-4C2869ED5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743" y="3325086"/>
            <a:ext cx="1198197" cy="129040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76CF12-4BD1-14F3-C5C7-4ECF54AEB8F5}"/>
              </a:ext>
            </a:extLst>
          </p:cNvPr>
          <p:cNvCxnSpPr>
            <a:cxnSpLocks/>
          </p:cNvCxnSpPr>
          <p:nvPr/>
        </p:nvCxnSpPr>
        <p:spPr>
          <a:xfrm>
            <a:off x="10044914" y="3978348"/>
            <a:ext cx="44883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70B37F0-7B00-D26E-26C5-17FA08F5FE68}"/>
              </a:ext>
            </a:extLst>
          </p:cNvPr>
          <p:cNvSpPr txBox="1"/>
          <p:nvPr/>
        </p:nvSpPr>
        <p:spPr>
          <a:xfrm>
            <a:off x="10403255" y="3048087"/>
            <a:ext cx="1788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Structural Connectivity</a:t>
            </a:r>
          </a:p>
        </p:txBody>
      </p:sp>
    </p:spTree>
    <p:extLst>
      <p:ext uri="{BB962C8B-B14F-4D97-AF65-F5344CB8AC3E}">
        <p14:creationId xmlns:p14="http://schemas.microsoft.com/office/powerpoint/2010/main" val="3589485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36EF-B163-A52A-71C6-480C68B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10" y="1037460"/>
            <a:ext cx="10124301" cy="706930"/>
          </a:xfrm>
        </p:spPr>
        <p:txBody>
          <a:bodyPr/>
          <a:lstStyle/>
          <a:p>
            <a:r>
              <a:rPr lang="en-US"/>
              <a:t>Challenge 2: Multi-graph Modelling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4ACC4-0E03-DA41-B2B5-E7CD91E5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AC336-A415-7869-4A47-F201A6B03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438" y="4460681"/>
            <a:ext cx="1463040" cy="1876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C87383-1697-9B91-869B-0E222506FE63}"/>
                  </a:ext>
                </a:extLst>
              </p:cNvPr>
              <p:cNvSpPr txBox="1"/>
              <p:nvPr/>
            </p:nvSpPr>
            <p:spPr>
              <a:xfrm>
                <a:off x="2369338" y="5410107"/>
                <a:ext cx="690702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667" i="1" dirty="0"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en-US" sz="2667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C87383-1697-9B91-869B-0E222506F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338" y="5410107"/>
                <a:ext cx="690702" cy="4104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229677-960C-56EB-ACD7-6EAD28019786}"/>
                  </a:ext>
                </a:extLst>
              </p:cNvPr>
              <p:cNvSpPr txBox="1"/>
              <p:nvPr/>
            </p:nvSpPr>
            <p:spPr>
              <a:xfrm>
                <a:off x="3201066" y="5424734"/>
                <a:ext cx="448777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67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67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667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667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229677-960C-56EB-ACD7-6EAD28019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066" y="5424734"/>
                <a:ext cx="448777" cy="4104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0FAB66-5926-1590-1E26-BEE514D08FAB}"/>
                  </a:ext>
                </a:extLst>
              </p:cNvPr>
              <p:cNvSpPr txBox="1"/>
              <p:nvPr/>
            </p:nvSpPr>
            <p:spPr>
              <a:xfrm>
                <a:off x="5458949" y="5410106"/>
                <a:ext cx="1061444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667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667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67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667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667" i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0FAB66-5926-1590-1E26-BEE514D08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949" y="5410106"/>
                <a:ext cx="1061444" cy="410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DC1D9C62-64D4-CC8A-3CF4-45FE62B0A38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924" t="35303" r="63617" b="35593"/>
          <a:stretch/>
        </p:blipFill>
        <p:spPr>
          <a:xfrm>
            <a:off x="6529194" y="4266493"/>
            <a:ext cx="1962363" cy="2316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68D8BE-A5E7-FD37-626E-EA301571CF02}"/>
              </a:ext>
            </a:extLst>
          </p:cNvPr>
          <p:cNvSpPr txBox="1"/>
          <p:nvPr/>
        </p:nvSpPr>
        <p:spPr>
          <a:xfrm>
            <a:off x="6763575" y="4460681"/>
            <a:ext cx="1168397" cy="37965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67"/>
              <a:t>SC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47D1EE-3039-3D6F-410E-D4BC56D081E9}"/>
                  </a:ext>
                </a:extLst>
              </p:cNvPr>
              <p:cNvSpPr txBox="1"/>
              <p:nvPr/>
            </p:nvSpPr>
            <p:spPr>
              <a:xfrm>
                <a:off x="8109878" y="5424734"/>
                <a:ext cx="5334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47D1EE-3039-3D6F-410E-D4BC56D08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878" y="5424734"/>
                <a:ext cx="5334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close-up of a grid&#10;&#10;Description automatically generated">
            <a:extLst>
              <a:ext uri="{FF2B5EF4-FFF2-40B4-BE49-F238E27FC236}">
                <a16:creationId xmlns:a16="http://schemas.microsoft.com/office/drawing/2014/main" id="{CC43D94F-E609-7890-1D9F-0D3756A0382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0395" b="7436"/>
          <a:stretch>
            <a:fillRect/>
          </a:stretch>
        </p:blipFill>
        <p:spPr>
          <a:xfrm>
            <a:off x="2794173" y="2534479"/>
            <a:ext cx="1403454" cy="1371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6A2518-229D-9F28-3E3C-BFD089236D3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22578" b="8955"/>
          <a:stretch>
            <a:fillRect/>
          </a:stretch>
        </p:blipFill>
        <p:spPr>
          <a:xfrm>
            <a:off x="5532498" y="2528482"/>
            <a:ext cx="1403454" cy="1371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FBE2E6-AA3D-CA49-7E17-4B9F09D6F09E}"/>
                  </a:ext>
                </a:extLst>
              </p:cNvPr>
              <p:cNvSpPr txBox="1"/>
              <p:nvPr/>
            </p:nvSpPr>
            <p:spPr>
              <a:xfrm>
                <a:off x="1372642" y="2922013"/>
                <a:ext cx="690702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667" i="1" dirty="0"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en-US" sz="2667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FBE2E6-AA3D-CA49-7E17-4B9F09D6F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642" y="2922013"/>
                <a:ext cx="690702" cy="4104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B05EE2-37EF-2686-D31F-9D1D49CCFCFE}"/>
                  </a:ext>
                </a:extLst>
              </p:cNvPr>
              <p:cNvSpPr txBox="1"/>
              <p:nvPr/>
            </p:nvSpPr>
            <p:spPr>
              <a:xfrm>
                <a:off x="2204370" y="2974867"/>
                <a:ext cx="448777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67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67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667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667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B05EE2-37EF-2686-D31F-9D1D49CCF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370" y="2974867"/>
                <a:ext cx="448777" cy="4104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AE4B48-EA19-9098-5202-DE0396AE562B}"/>
                  </a:ext>
                </a:extLst>
              </p:cNvPr>
              <p:cNvSpPr txBox="1"/>
              <p:nvPr/>
            </p:nvSpPr>
            <p:spPr>
              <a:xfrm>
                <a:off x="4344234" y="2974866"/>
                <a:ext cx="1061444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667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667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67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667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667" i="1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AE4B48-EA19-9098-5202-DE0396AE5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234" y="2974866"/>
                <a:ext cx="1061444" cy="41043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503B50-AC1C-EC00-B425-814F40359802}"/>
                  </a:ext>
                </a:extLst>
              </p:cNvPr>
              <p:cNvSpPr txBox="1"/>
              <p:nvPr/>
            </p:nvSpPr>
            <p:spPr>
              <a:xfrm>
                <a:off x="7062772" y="2927090"/>
                <a:ext cx="11882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503B50-AC1C-EC00-B425-814F40359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772" y="2927090"/>
                <a:ext cx="1188264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874B3979-01A3-A811-F711-17937384519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22732" b="9551"/>
          <a:stretch>
            <a:fillRect/>
          </a:stretch>
        </p:blipFill>
        <p:spPr>
          <a:xfrm>
            <a:off x="8270823" y="2531201"/>
            <a:ext cx="1414503" cy="1371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961EF9-2BDD-89AE-0A03-78BBE22766DC}"/>
                  </a:ext>
                </a:extLst>
              </p:cNvPr>
              <p:cNvSpPr txBox="1"/>
              <p:nvPr/>
            </p:nvSpPr>
            <p:spPr>
              <a:xfrm>
                <a:off x="9726045" y="2927089"/>
                <a:ext cx="5334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961EF9-2BDD-89AE-0A03-78BBE2276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6045" y="2927089"/>
                <a:ext cx="533400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BAD0EDA-7E37-20C4-F7FA-E5A6631ED81E}"/>
              </a:ext>
            </a:extLst>
          </p:cNvPr>
          <p:cNvSpPr txBox="1"/>
          <p:nvPr/>
        </p:nvSpPr>
        <p:spPr>
          <a:xfrm>
            <a:off x="2856868" y="2148535"/>
            <a:ext cx="1137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FC at rest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26D6AE-CDC2-DA69-54A3-113704721CB7}"/>
              </a:ext>
            </a:extLst>
          </p:cNvPr>
          <p:cNvSpPr txBox="1"/>
          <p:nvPr/>
        </p:nvSpPr>
        <p:spPr>
          <a:xfrm>
            <a:off x="5515563" y="2148535"/>
            <a:ext cx="14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FC for task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4C7DE0-7C73-9DC6-C614-2B463D1B5070}"/>
              </a:ext>
            </a:extLst>
          </p:cNvPr>
          <p:cNvSpPr txBox="1"/>
          <p:nvPr/>
        </p:nvSpPr>
        <p:spPr>
          <a:xfrm>
            <a:off x="8251036" y="2155283"/>
            <a:ext cx="14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FC for task 2</a:t>
            </a:r>
          </a:p>
        </p:txBody>
      </p:sp>
    </p:spTree>
    <p:extLst>
      <p:ext uri="{BB962C8B-B14F-4D97-AF65-F5344CB8AC3E}">
        <p14:creationId xmlns:p14="http://schemas.microsoft.com/office/powerpoint/2010/main" val="2805490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F8ED66-9582-2D26-B77E-F430F1618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235" y="5104003"/>
            <a:ext cx="4944037" cy="130308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09600" y="1466951"/>
            <a:ext cx="6022848" cy="3603299"/>
          </a:xfrm>
        </p:spPr>
        <p:txBody>
          <a:bodyPr/>
          <a:lstStyle/>
          <a:p>
            <a:pPr marL="0" indent="0" algn="l">
              <a:buNone/>
            </a:pPr>
            <a:r>
              <a:rPr lang="en-US"/>
              <a:t>Human Connectome Project Development (HCP-D)</a:t>
            </a:r>
          </a:p>
          <a:p>
            <a:pPr marL="0" indent="0" algn="l">
              <a:buNone/>
            </a:pPr>
            <a:r>
              <a:rPr lang="en-US"/>
              <a:t>Participants: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/>
              <a:t>Data Showcase: TO Understand cognitive ABILITY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AD221E-9E0B-2746-941C-B6B95C24C4B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BD50AB-FBD6-62F9-4BFD-514FDD68E118}"/>
              </a:ext>
            </a:extLst>
          </p:cNvPr>
          <p:cNvSpPr/>
          <p:nvPr/>
        </p:nvSpPr>
        <p:spPr>
          <a:xfrm>
            <a:off x="609600" y="2272924"/>
            <a:ext cx="1538455" cy="733888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67"/>
              <a:t>Release:</a:t>
            </a:r>
          </a:p>
          <a:p>
            <a:r>
              <a:rPr lang="en-US" sz="1867"/>
              <a:t>650 subjects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18FF38-B4CB-C65A-19F3-1AA4B03361FD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2148055" y="2639868"/>
            <a:ext cx="538438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298EF12-531B-6E4A-D42E-E7566EFAC0CF}"/>
              </a:ext>
            </a:extLst>
          </p:cNvPr>
          <p:cNvSpPr/>
          <p:nvPr/>
        </p:nvSpPr>
        <p:spPr>
          <a:xfrm>
            <a:off x="2686493" y="2272924"/>
            <a:ext cx="1592900" cy="733888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67"/>
              <a:t>Cognitive test</a:t>
            </a:r>
          </a:p>
          <a:p>
            <a:r>
              <a:rPr lang="en-US" sz="1867"/>
              <a:t>471 subjects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48C68F-58B9-5FEF-D4C1-077A0603A776}"/>
              </a:ext>
            </a:extLst>
          </p:cNvPr>
          <p:cNvSpPr/>
          <p:nvPr/>
        </p:nvSpPr>
        <p:spPr>
          <a:xfrm>
            <a:off x="4899829" y="2272924"/>
            <a:ext cx="1500971" cy="733888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67"/>
              <a:t>Neuroimage</a:t>
            </a:r>
          </a:p>
          <a:p>
            <a:r>
              <a:rPr lang="en-US" sz="1867" b="1"/>
              <a:t>372</a:t>
            </a:r>
            <a:r>
              <a:rPr lang="en-US" sz="1867"/>
              <a:t> subjects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EBBE601-7898-8CA0-1FAB-31C587615399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4279392" y="2639868"/>
            <a:ext cx="620437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Chart, histogram&#10;&#10;Description automatically generated">
            <a:extLst>
              <a:ext uri="{FF2B5EF4-FFF2-40B4-BE49-F238E27FC236}">
                <a16:creationId xmlns:a16="http://schemas.microsoft.com/office/drawing/2014/main" id="{E89F8A28-B595-1483-9F90-08467C2FD6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30" y="3302428"/>
            <a:ext cx="4944037" cy="2940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Placeholder 2">
                <a:extLst>
                  <a:ext uri="{FF2B5EF4-FFF2-40B4-BE49-F238E27FC236}">
                    <a16:creationId xmlns:a16="http://schemas.microsoft.com/office/drawing/2014/main" id="{36F49D37-7C5E-1AF9-1B47-AE5F86B73F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30235" y="1830773"/>
                <a:ext cx="5605821" cy="3642803"/>
              </a:xfrm>
              <a:prstGeom prst="rect">
                <a:avLst/>
              </a:prstGeom>
            </p:spPr>
            <p:txBody>
              <a:bodyPr vert="horz"/>
              <a:lstStyle>
                <a:lvl1pPr marL="285750" indent="-285750" algn="ctr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400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sz="1867"/>
                  <a:t>Cognition assessment: NIH toolbox</a:t>
                </a:r>
              </a:p>
              <a:p>
                <a:pPr algn="l"/>
                <a:r>
                  <a:rPr lang="en-US" sz="1867"/>
                  <a:t>Crystal Cognition Composite (CCC)</a:t>
                </a:r>
              </a:p>
              <a:p>
                <a:pPr algn="l"/>
                <a:r>
                  <a:rPr lang="en-US" sz="1867"/>
                  <a:t>Fluid Cognition Composite (FCC)</a:t>
                </a:r>
              </a:p>
              <a:p>
                <a:pPr marL="0" indent="0" algn="l">
                  <a:buNone/>
                </a:pPr>
                <a:endParaRPr lang="en-US" sz="1867"/>
              </a:p>
              <a:p>
                <a:pPr marL="0" indent="0" algn="l">
                  <a:buNone/>
                </a:pPr>
                <a:r>
                  <a:rPr lang="en-US" sz="1867"/>
                  <a:t>Neuroimaging:</a:t>
                </a:r>
              </a:p>
              <a:p>
                <a:pPr algn="l"/>
                <a:r>
                  <a:rPr lang="en-US" sz="1867"/>
                  <a:t>DTI </a:t>
                </a:r>
                <a14:m>
                  <m:oMath xmlns:m="http://schemas.openxmlformats.org/officeDocument/2006/math">
                    <m:r>
                      <a:rPr lang="en-US" sz="1867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67"/>
                  <a:t> MRtrix3 </a:t>
                </a:r>
                <a14:m>
                  <m:oMath xmlns:m="http://schemas.openxmlformats.org/officeDocument/2006/math">
                    <m:r>
                      <a:rPr lang="en-US" sz="1867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67"/>
                  <a:t> tractography </a:t>
                </a:r>
                <a14:m>
                  <m:oMath xmlns:m="http://schemas.openxmlformats.org/officeDocument/2006/math">
                    <m:r>
                      <a:rPr lang="en-US" sz="1867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67"/>
                  <a:t> SC</a:t>
                </a:r>
              </a:p>
              <a:p>
                <a:pPr algn="l"/>
                <a:r>
                  <a:rPr lang="en-US" sz="1867"/>
                  <a:t>Rs-fMRI </a:t>
                </a:r>
                <a14:m>
                  <m:oMath xmlns:m="http://schemas.openxmlformats.org/officeDocument/2006/math">
                    <m:r>
                      <a:rPr lang="en-US" sz="1867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67"/>
                  <a:t> minimal processing </a:t>
                </a:r>
                <a14:m>
                  <m:oMath xmlns:m="http://schemas.openxmlformats.org/officeDocument/2006/math">
                    <m:r>
                      <a:rPr lang="en-US" sz="1867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67"/>
                  <a:t> correlation </a:t>
                </a:r>
                <a14:m>
                  <m:oMath xmlns:m="http://schemas.openxmlformats.org/officeDocument/2006/math">
                    <m:r>
                      <a:rPr lang="en-US" sz="1867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67"/>
                  <a:t> FC</a:t>
                </a:r>
              </a:p>
              <a:p>
                <a:pPr marL="0" indent="0" algn="l">
                  <a:buNone/>
                </a:pPr>
                <a:endParaRPr lang="en-US" sz="1867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0" indent="0" algn="l">
                  <a:buNone/>
                </a:pPr>
                <a:r>
                  <a:rPr lang="en-US" sz="1867">
                    <a:solidFill>
                      <a:schemeClr val="tx1">
                        <a:lumMod val="50000"/>
                      </a:schemeClr>
                    </a:solidFill>
                  </a:rPr>
                  <a:t>Parcellation: Schaefer 200 atlas, i.e., 200 regions</a:t>
                </a:r>
              </a:p>
              <a:p>
                <a:pPr algn="l"/>
                <a:endParaRPr lang="en-US" sz="1867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Text Placeholder 2">
                <a:extLst>
                  <a:ext uri="{FF2B5EF4-FFF2-40B4-BE49-F238E27FC236}">
                    <a16:creationId xmlns:a16="http://schemas.microsoft.com/office/drawing/2014/main" id="{36F49D37-7C5E-1AF9-1B47-AE5F86B73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235" y="1830773"/>
                <a:ext cx="5605821" cy="3642803"/>
              </a:xfrm>
              <a:prstGeom prst="rect">
                <a:avLst/>
              </a:prstGeom>
              <a:blipFill>
                <a:blip r:embed="rId5"/>
                <a:stretch>
                  <a:fillRect l="-979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08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604"/>
    </mc:Choice>
    <mc:Fallback xmlns="">
      <p:transition spd="slow" advTm="7160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2732-BE13-009E-5D5F-69FFBDFF1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354" y="457726"/>
            <a:ext cx="10700877" cy="706930"/>
          </a:xfrm>
        </p:spPr>
        <p:txBody>
          <a:bodyPr/>
          <a:lstStyle/>
          <a:p>
            <a:r>
              <a:rPr lang="en-US" dirty="0"/>
              <a:t>Matrix-Variate Regression – Bilinear Format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9616C-252F-EDD5-BC8E-A11244F93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2534" y="1452144"/>
                <a:ext cx="10124301" cy="4351338"/>
              </a:xfrm>
            </p:spPr>
            <p:txBody>
              <a:bodyPr/>
              <a:lstStyle/>
              <a:p>
                <a:r>
                  <a:rPr lang="en-US" dirty="0"/>
                  <a:t>Goal: </a:t>
                </a:r>
              </a:p>
              <a:p>
                <a:pPr lvl="1"/>
                <a:r>
                  <a:rPr lang="en-US" dirty="0"/>
                  <a:t>Develop a supervised analysis tool for multiple brain connectivity matrices</a:t>
                </a:r>
              </a:p>
              <a:p>
                <a:pPr lvl="1"/>
                <a:r>
                  <a:rPr lang="en-US" dirty="0"/>
                  <a:t>Predict behavioral outcomes and Identify associated connectivity patterns </a:t>
                </a:r>
              </a:p>
              <a:p>
                <a:endParaRPr lang="en-US" dirty="0"/>
              </a:p>
              <a:p>
                <a:r>
                  <a:rPr lang="en-US" dirty="0"/>
                  <a:t>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– scaler, outcome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-- adjacency matrix, symmetric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9616C-252F-EDD5-BC8E-A11244F93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2534" y="1452144"/>
                <a:ext cx="10124301" cy="4351338"/>
              </a:xfrm>
              <a:blipFill>
                <a:blip r:embed="rId2"/>
                <a:stretch>
                  <a:fillRect l="-783" t="-196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E0EC1-8AB4-61D9-00C6-6FE1BFECB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3863B5-BECC-C82E-4C5E-BB037E0ADC13}"/>
                  </a:ext>
                </a:extLst>
              </p:cNvPr>
              <p:cNvSpPr txBox="1"/>
              <p:nvPr/>
            </p:nvSpPr>
            <p:spPr>
              <a:xfrm>
                <a:off x="6064684" y="3150424"/>
                <a:ext cx="5388548" cy="3160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Interpretation: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×1</m:t>
                        </m:r>
                      </m:sub>
                    </m:sSub>
                  </m:oMath>
                </a14:m>
                <a:r>
                  <a:rPr lang="en-US"/>
                  <a:t> --   regression parameters indicating the effect of each node on the outcome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/>
                  <a:t> -- Kronecker product, representing edge-level effects derived from node contributions</a:t>
                </a:r>
              </a:p>
              <a:p>
                <a:endParaRPr lang="en-US"/>
              </a:p>
              <a:p>
                <a:r>
                  <a:rPr lang="en-US"/>
                  <a:t>Assumption: </a:t>
                </a:r>
              </a:p>
              <a:p>
                <a:r>
                  <a:rPr lang="en-US"/>
                  <a:t>Edge effects exist </a:t>
                </a:r>
                <a:r>
                  <a:rPr lang="en-US" b="1"/>
                  <a:t>only if</a:t>
                </a:r>
                <a:r>
                  <a:rPr lang="en-US"/>
                  <a:t> corresponding node effects are present </a:t>
                </a:r>
              </a:p>
              <a:p>
                <a:r>
                  <a:rPr lang="en-US"/>
                  <a:t>— analogous to regression models where </a:t>
                </a:r>
                <a:r>
                  <a:rPr lang="en-US" b="1"/>
                  <a:t>interaction effects</a:t>
                </a:r>
                <a:r>
                  <a:rPr lang="en-US"/>
                  <a:t> require </a:t>
                </a:r>
                <a:r>
                  <a:rPr lang="en-US" b="1"/>
                  <a:t>main effects</a:t>
                </a:r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3863B5-BECC-C82E-4C5E-BB037E0AD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684" y="3150424"/>
                <a:ext cx="5388548" cy="3160737"/>
              </a:xfrm>
              <a:prstGeom prst="rect">
                <a:avLst/>
              </a:prstGeom>
              <a:blipFill>
                <a:blip r:embed="rId3"/>
                <a:stretch>
                  <a:fillRect l="-1018" t="-1158" r="-1471" b="-2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4940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AB99-7F26-B3C5-24A8-4A747FC24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5" y="1667438"/>
            <a:ext cx="6072710" cy="4325147"/>
          </a:xfrm>
        </p:spPr>
        <p:txBody>
          <a:bodyPr/>
          <a:lstStyle/>
          <a:p>
            <a:r>
              <a:rPr lang="en-US"/>
              <a:t>Next Steps:</a:t>
            </a:r>
            <a:br>
              <a:rPr lang="en-US"/>
            </a:br>
            <a:br>
              <a:rPr lang="en-US"/>
            </a:br>
            <a:r>
              <a:rPr lang="en-US"/>
              <a:t>- Estimation procedure and optimization algorithm</a:t>
            </a:r>
            <a:br>
              <a:rPr lang="en-US"/>
            </a:br>
            <a:br>
              <a:rPr lang="en-US"/>
            </a:br>
            <a:r>
              <a:rPr lang="en-US"/>
              <a:t>- Computational implementation</a:t>
            </a:r>
            <a:br>
              <a:rPr lang="en-US"/>
            </a:br>
            <a:br>
              <a:rPr lang="en-US"/>
            </a:br>
            <a:r>
              <a:rPr lang="en-US"/>
              <a:t>- Simulation studies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3B24B7-B16B-E0B6-37E3-4E56E318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278D3-EB3C-FA1F-0EBD-7430788DBA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Chang Li</a:t>
            </a:r>
          </a:p>
          <a:p>
            <a:r>
              <a:rPr lang="en-US"/>
              <a:t>PhD student in Statistics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24CD8D-1FBA-E2C1-2AE8-F9EBBDFF48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730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79F5-8CFF-19A8-6AA4-9A69CEF9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Bilinear regression on one matrix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F7CEC-7E3D-861F-7B3D-274E0FFFE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Franklin Gothic Book"/>
              </a:rPr>
              <a:t>Setup: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latin typeface="Franklin Gothic Book"/>
            </a:endParaRPr>
          </a:p>
          <a:p>
            <a:r>
              <a:rPr lang="en-US">
                <a:latin typeface="Franklin Gothic Book"/>
              </a:rPr>
              <a:t>This bilinear regression can be converted to a trace regression</a:t>
            </a:r>
          </a:p>
          <a:p>
            <a:endParaRPr lang="en-US">
              <a:latin typeface="Franklin Gothic Book"/>
            </a:endParaRPr>
          </a:p>
          <a:p>
            <a:endParaRPr lang="en-US">
              <a:latin typeface="Franklin Gothic Book"/>
            </a:endParaRPr>
          </a:p>
          <a:p>
            <a:pPr marL="0" indent="0">
              <a:buNone/>
            </a:pPr>
            <a:r>
              <a:rPr lang="en-US">
                <a:latin typeface="Franklin Gothic Book"/>
              </a:rPr>
              <a:t> where we can substitute β1β with a rank one matrix B. For such a problem, a popular choice of estimator is a solution to the nuclear-norm regularized least-squares optimization problem.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348E-2A7F-C1A9-2498-E28EAA80C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5948EC79-E629-DB2D-C333-28291E325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99" y="2077807"/>
            <a:ext cx="2816240" cy="733275"/>
          </a:xfrm>
          <a:prstGeom prst="rect">
            <a:avLst/>
          </a:prstGeom>
        </p:spPr>
      </p:pic>
      <p:pic>
        <p:nvPicPr>
          <p:cNvPr id="6" name="Picture 5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22D94348-14DC-A209-066B-3F16B3E60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027" y="3566584"/>
            <a:ext cx="3964518" cy="698500"/>
          </a:xfrm>
          <a:prstGeom prst="rect">
            <a:avLst/>
          </a:prstGeom>
        </p:spPr>
      </p:pic>
      <p:pic>
        <p:nvPicPr>
          <p:cNvPr id="7" name="Picture 6" descr="A close-up of a sign&#10;&#10;AI-generated content may be incorrect.">
            <a:extLst>
              <a:ext uri="{FF2B5EF4-FFF2-40B4-BE49-F238E27FC236}">
                <a16:creationId xmlns:a16="http://schemas.microsoft.com/office/drawing/2014/main" id="{A89664DF-2A7F-7633-29EE-D4F48D4FB4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27" r="66739" b="65347"/>
          <a:stretch>
            <a:fillRect/>
          </a:stretch>
        </p:blipFill>
        <p:spPr>
          <a:xfrm>
            <a:off x="4592033" y="4590628"/>
            <a:ext cx="619178" cy="336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7ADE76-04F9-03E8-D874-D33CA7C64D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723" r="390" b="-2469"/>
          <a:stretch>
            <a:fillRect/>
          </a:stretch>
        </p:blipFill>
        <p:spPr>
          <a:xfrm>
            <a:off x="8057314" y="2400978"/>
            <a:ext cx="1662670" cy="4088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AB3E45-79DA-5D80-5334-8C15F93F26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723" r="390" b="-2469"/>
          <a:stretch>
            <a:fillRect/>
          </a:stretch>
        </p:blipFill>
        <p:spPr>
          <a:xfrm>
            <a:off x="8049251" y="3713584"/>
            <a:ext cx="1662670" cy="40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32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40E70-DACF-D1B5-BD36-48A69A9B9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CF86B-5699-4332-F5F5-9E75035E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Nuclear norm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7B72-BDF0-BD72-3230-73C3EAA45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Franklin Gothic Book"/>
              </a:rPr>
              <a:t>The nuclear norm of a matrix Θ ∈Rm1×m2 is given by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>
              <a:latin typeface="Franklin Gothic Book"/>
            </a:endParaRPr>
          </a:p>
          <a:p>
            <a:pPr marL="0" indent="0">
              <a:buNone/>
            </a:pPr>
            <a:r>
              <a:rPr lang="en-US">
                <a:latin typeface="Franklin Gothic Book"/>
              </a:rPr>
              <a:t> corresponding to the sum of its singular values. The nuclear norm enforces</a:t>
            </a:r>
            <a:endParaRPr lang="en-US"/>
          </a:p>
          <a:p>
            <a:pPr marL="0" indent="0">
              <a:buNone/>
            </a:pPr>
            <a:r>
              <a:rPr lang="en-US">
                <a:latin typeface="Franklin Gothic Book"/>
              </a:rPr>
              <a:t>    low rank structure of the estimated matrix.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316FB-CB15-C486-E56D-814283C0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16ED46AC-A922-755A-DF90-C15DE3FF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876" y="1823204"/>
            <a:ext cx="1687000" cy="401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CCD687-9C63-DC47-1568-4F1A0E728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590" y="2433959"/>
            <a:ext cx="2487529" cy="8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03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5BDD7-3C6C-1051-172D-200BE8E49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047F-A52B-FAA1-D12B-591F97FD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SVD decomposition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D8EC5-0E55-3ED1-30E9-20193F7D1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Franklin Gothic Book"/>
              </a:rPr>
              <a:t>Given a collection of observations (</a:t>
            </a:r>
            <a:r>
              <a:rPr lang="en-US" err="1">
                <a:latin typeface="Franklin Gothic Book"/>
              </a:rPr>
              <a:t>yi</a:t>
            </a:r>
            <a:r>
              <a:rPr lang="en-US">
                <a:latin typeface="Franklin Gothic Book"/>
              </a:rPr>
              <a:t> ,Xi ),</a:t>
            </a:r>
            <a:r>
              <a:rPr lang="en-US" err="1">
                <a:latin typeface="Franklin Gothic Book"/>
              </a:rPr>
              <a:t>i</a:t>
            </a:r>
            <a:r>
              <a:rPr lang="en-US">
                <a:latin typeface="Franklin Gothic Book"/>
              </a:rPr>
              <a:t> = 1,2,          we consider estimating the following optimization problem:</a:t>
            </a:r>
          </a:p>
          <a:p>
            <a:endParaRPr lang="en-US"/>
          </a:p>
          <a:p>
            <a:endParaRPr lang="en-US">
              <a:latin typeface="Franklin Gothic Book"/>
            </a:endParaRPr>
          </a:p>
          <a:p>
            <a:r>
              <a:rPr lang="en-US">
                <a:latin typeface="Franklin Gothic Book"/>
              </a:rPr>
              <a:t>Next, decompose     and get the eigenvector corresponding to the greatest eigenvalue</a:t>
            </a:r>
            <a:endParaRPr lang="en-US"/>
          </a:p>
          <a:p>
            <a:endParaRPr lang="en-US">
              <a:latin typeface="Franklin Gothic Book"/>
            </a:endParaRPr>
          </a:p>
          <a:p>
            <a:pPr marL="0" indent="0">
              <a:buNone/>
            </a:pPr>
            <a:r>
              <a:rPr lang="en-US">
                <a:latin typeface="Franklin Gothic Book"/>
              </a:rPr>
              <a:t>  where   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93034-E9E8-3A57-3899-DCDE4D49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5C8CF-27CC-C40A-4C62-F18449C48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34" y="1835623"/>
            <a:ext cx="2523481" cy="399048"/>
          </a:xfrm>
          <a:prstGeom prst="rect">
            <a:avLst/>
          </a:prstGeom>
        </p:spPr>
      </p:pic>
      <p:pic>
        <p:nvPicPr>
          <p:cNvPr id="6" name="Picture 5" descr="A black text with black text&#10;&#10;AI-generated content may be incorrect.">
            <a:extLst>
              <a:ext uri="{FF2B5EF4-FFF2-40B4-BE49-F238E27FC236}">
                <a16:creationId xmlns:a16="http://schemas.microsoft.com/office/drawing/2014/main" id="{89C99F65-68EE-AB3F-5AA9-5547E432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694" y="2795200"/>
            <a:ext cx="5585519" cy="775036"/>
          </a:xfrm>
          <a:prstGeom prst="rect">
            <a:avLst/>
          </a:prstGeom>
        </p:spPr>
      </p:pic>
      <p:pic>
        <p:nvPicPr>
          <p:cNvPr id="7" name="Picture 6" descr="A black text with black text&#10;&#10;AI-generated content may be incorrect.">
            <a:extLst>
              <a:ext uri="{FF2B5EF4-FFF2-40B4-BE49-F238E27FC236}">
                <a16:creationId xmlns:a16="http://schemas.microsoft.com/office/drawing/2014/main" id="{2F0B9C33-32E8-C1BD-B736-E8F38E3256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66" r="94988" b="32759"/>
          <a:stretch>
            <a:fillRect/>
          </a:stretch>
        </p:blipFill>
        <p:spPr>
          <a:xfrm>
            <a:off x="3618950" y="3791189"/>
            <a:ext cx="325074" cy="419102"/>
          </a:xfrm>
          <a:prstGeom prst="rect">
            <a:avLst/>
          </a:prstGeom>
        </p:spPr>
      </p:pic>
      <p:pic>
        <p:nvPicPr>
          <p:cNvPr id="10" name="Picture 9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40F0984-7F4A-3FBB-1012-A95AB4BA9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408" y="4509559"/>
            <a:ext cx="5525559" cy="474134"/>
          </a:xfrm>
          <a:prstGeom prst="rect">
            <a:avLst/>
          </a:prstGeom>
        </p:spPr>
      </p:pic>
      <p:pic>
        <p:nvPicPr>
          <p:cNvPr id="11" name="Picture 10" descr="A group of black letters&#10;&#10;AI-generated content may be incorrect.">
            <a:extLst>
              <a:ext uri="{FF2B5EF4-FFF2-40B4-BE49-F238E27FC236}">
                <a16:creationId xmlns:a16="http://schemas.microsoft.com/office/drawing/2014/main" id="{0EF76CB7-DF1D-2754-CE62-B032CC65D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6775" y="5211233"/>
            <a:ext cx="3611034" cy="48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177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CAB6-D9B5-9B00-ECD2-4991E55E9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FA36-9381-83A4-2017-32478271B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Bilinear regression on two matrices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478ADD-49FC-6999-D2E9-9C3D72CA4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Franklin Gothic Book"/>
              </a:rPr>
              <a:t>Setup: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>
                <a:latin typeface="Franklin Gothic Book"/>
              </a:rPr>
              <a:t>We will conduct Lasso regression which </a:t>
            </a:r>
            <a:r>
              <a:rPr lang="en-US" b="1">
                <a:latin typeface="Franklin Gothic Book"/>
              </a:rPr>
              <a:t>initializes</a:t>
            </a:r>
            <a:r>
              <a:rPr lang="en-US">
                <a:latin typeface="Franklin Gothic Book"/>
              </a:rPr>
              <a:t> at the value generated from the low rank matrix regression in (1)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6768F-7EB0-29DF-38A8-37F4E087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E4E12D-C6CC-2079-A7D8-EA35B9A09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508" y="2523050"/>
            <a:ext cx="3909691" cy="5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10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083B1-F58C-ACEE-BEFE-0FBCDA09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EF36-014F-3F8C-0A84-53E01CD8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Lasso regression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4C0455-66D5-3993-5440-D11CA4DDD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Franklin Gothic Book"/>
              </a:rPr>
              <a:t>The objective function to be solved is as below: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dirty="0">
                <a:latin typeface="Franklin Gothic Book"/>
              </a:rPr>
              <a:t>  where F(x) is the average of smooth convex functions and h(x) is a relatively simple convex function that can be non-differentiable.</a:t>
            </a:r>
            <a:endParaRPr lang="en-US" dirty="0"/>
          </a:p>
          <a:p>
            <a:endParaRPr lang="en-US">
              <a:latin typeface="Franklin Gothic Book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7848B-1A34-DC34-BEAC-D3CD92DF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29CD2C15-B500-DE35-485F-4209E9B47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672" y="2699506"/>
            <a:ext cx="8467940" cy="760083"/>
          </a:xfrm>
          <a:prstGeom prst="rect">
            <a:avLst/>
          </a:prstGeom>
        </p:spPr>
      </p:pic>
      <p:pic>
        <p:nvPicPr>
          <p:cNvPr id="3" name="Picture 2" descr="A close-up of a symbol&#10;&#10;AI-generated content may be incorrect.">
            <a:extLst>
              <a:ext uri="{FF2B5EF4-FFF2-40B4-BE49-F238E27FC236}">
                <a16:creationId xmlns:a16="http://schemas.microsoft.com/office/drawing/2014/main" id="{4028C3DD-83E2-9237-C926-C8B24A443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58" y="2662637"/>
            <a:ext cx="8898193" cy="80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56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65BE-D817-FDBB-B7E6-30FAE3CDF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08B3-4BF7-6B7B-9766-5DA2E984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Proximal gradient descent (PGD)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40C5D5-407F-D381-49FE-8CBE899B8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>
                <a:latin typeface="Franklin Gothic Book"/>
              </a:rPr>
              <a:t>To solve the optimization problem (2), one popular method is the proximal gradient descent (PGD) method, which can be described as the following update rules for k = 1, 2,:</a:t>
            </a:r>
          </a:p>
          <a:p>
            <a:endParaRPr lang="en-US"/>
          </a:p>
          <a:p>
            <a:endParaRPr lang="en-US"/>
          </a:p>
          <a:p>
            <a:r>
              <a:rPr lang="en-US">
                <a:latin typeface="Franklin Gothic Book"/>
              </a:rPr>
              <a:t>Here we have h to be the l1-regularization. So, we can have the explicit form of the update rule with the soft-thresholding function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7F205-9A02-F070-B9F0-B09C6CF0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04E9732-DB5C-98F5-3673-0B2F1C927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893" y="3067378"/>
            <a:ext cx="4916214" cy="728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8F884F-A7FF-C999-E570-089B38F89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816" y="4374931"/>
            <a:ext cx="3600450" cy="420414"/>
          </a:xfrm>
          <a:prstGeom prst="rect">
            <a:avLst/>
          </a:prstGeom>
        </p:spPr>
      </p:pic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F35B54B-9B88-A6B7-573C-0C24E1CE1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532" y="4817351"/>
            <a:ext cx="4983874" cy="136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11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10952-29F6-D8F0-D036-23344659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43DE-8C00-AB74-EC6C-AD6345C14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Challenges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52FDEA-0798-B4D6-530A-35D1720E9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>
                <a:latin typeface="Franklin Gothic Book"/>
              </a:rPr>
              <a:t>Initial values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r>
              <a:rPr lang="en-US">
                <a:latin typeface="Franklin Gothic Book"/>
              </a:rPr>
              <a:t>We experimented with initializing β(   and β(0 from a uniform distribution on [−1, 1]. However, this initialization frequently caused the optimization to converge to local minima, and the gradients were sometimes unbounded, occasionally diverging to infinity during the iterations.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Courier New" panose="020B0604020202020204" pitchFamily="34" charset="0"/>
              <a:buChar char="o"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956E2-727C-C6E9-A081-7D84FB9C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680CD3E-91F2-537F-E137-3D89CCE07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145" y="2294272"/>
            <a:ext cx="5286704" cy="393360"/>
          </a:xfrm>
          <a:prstGeom prst="rect">
            <a:avLst/>
          </a:prstGeo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6F735C8-0D1A-6B33-07D7-B76E68C360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964" b="1613"/>
          <a:stretch>
            <a:fillRect/>
          </a:stretch>
        </p:blipFill>
        <p:spPr>
          <a:xfrm>
            <a:off x="5578772" y="2954392"/>
            <a:ext cx="487401" cy="392036"/>
          </a:xfrm>
          <a:prstGeom prst="rect">
            <a:avLst/>
          </a:prstGeom>
        </p:spPr>
      </p:pic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B757834-B46B-0E95-DAED-5FC59BDF7B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010" t="1004" r="515" b="1724"/>
          <a:stretch>
            <a:fillRect/>
          </a:stretch>
        </p:blipFill>
        <p:spPr>
          <a:xfrm>
            <a:off x="6643767" y="2956289"/>
            <a:ext cx="460531" cy="38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961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4A763-86BD-7B75-5317-FCB87D27D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2C7A-5001-2C1C-C3DC-20FE8E52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How to obtain a better initial value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CF4B87B-8FA2-292B-4298-200E9B139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>
                <a:latin typeface="Franklin Gothic Book"/>
              </a:rPr>
              <a:t>We first regress y on X1 to obtain a low rank estimate. An initial value can then be derived by decomposing the low rank matrix.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>
                <a:latin typeface="Franklin Gothic Book"/>
              </a:rPr>
              <a:t>Similarly, by regressing y on X2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>
                <a:latin typeface="Franklin Gothic Book"/>
              </a:rPr>
              <a:t> </a:t>
            </a: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>
                <a:latin typeface="Franklin Gothic Book"/>
              </a:rPr>
              <a:t>We can get the corresponding initial value in the same manner.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B4611-77D0-0114-F149-20A8C9BA5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" name="Picture 2" descr="A black letter with a white background&#10;&#10;AI-generated content may be incorrect.">
            <a:extLst>
              <a:ext uri="{FF2B5EF4-FFF2-40B4-BE49-F238E27FC236}">
                <a16:creationId xmlns:a16="http://schemas.microsoft.com/office/drawing/2014/main" id="{DE0A96B0-0A1C-B402-1FDB-EDC61F965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89" b="-10811"/>
          <a:stretch>
            <a:fillRect/>
          </a:stretch>
        </p:blipFill>
        <p:spPr>
          <a:xfrm>
            <a:off x="4310987" y="3067173"/>
            <a:ext cx="3322967" cy="446950"/>
          </a:xfrm>
          <a:prstGeom prst="rect">
            <a:avLst/>
          </a:prstGeom>
        </p:spPr>
      </p:pic>
      <p:pic>
        <p:nvPicPr>
          <p:cNvPr id="6" name="Picture 5" descr="A black letter x and a number&#10;&#10;AI-generated content may be incorrect.">
            <a:extLst>
              <a:ext uri="{FF2B5EF4-FFF2-40B4-BE49-F238E27FC236}">
                <a16:creationId xmlns:a16="http://schemas.microsoft.com/office/drawing/2014/main" id="{3A87B757-5008-E58E-B416-3E009B8703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52" b="-2740"/>
          <a:stretch>
            <a:fillRect/>
          </a:stretch>
        </p:blipFill>
        <p:spPr>
          <a:xfrm>
            <a:off x="4360290" y="4246969"/>
            <a:ext cx="3224544" cy="39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62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5361-3625-1E65-D2FC-C308D06A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9FFA-F7F5-4D17-06AA-CE42DA738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Challenges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CDD494-67C5-DF26-96B4-8662902F4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>
                <a:latin typeface="Franklin Gothic Book"/>
              </a:rPr>
              <a:t>The choice of      in low rank matrix regression 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>
              <a:latin typeface="Franklin Gothic Book"/>
            </a:endParaRP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>
                <a:latin typeface="Franklin Gothic Book"/>
              </a:rPr>
              <a:t>Although there is existing literature on this topic, tuning      is still a concern. 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>
                <a:latin typeface="Franklin Gothic Book"/>
              </a:rPr>
              <a:t>Choice of hyperparameters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>
                <a:latin typeface="Franklin Gothic Book"/>
              </a:rPr>
              <a:t>In the absence of prior information about the true coefficients, the most reliable way to select gamma_1 and gamma_2 is through cross-validation.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>
                <a:latin typeface="Franklin Gothic Book"/>
              </a:rPr>
              <a:t> </a:t>
            </a: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CABD5-5B6E-A643-1AC2-427EDDBF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4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AC0EF3CA-B740-CE51-98C4-0528D434C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563" y="1847521"/>
            <a:ext cx="306114" cy="435523"/>
          </a:xfrm>
          <a:prstGeom prst="rect">
            <a:avLst/>
          </a:prstGeom>
        </p:spPr>
      </p:pic>
      <p:pic>
        <p:nvPicPr>
          <p:cNvPr id="7" name="Picture 6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936C664A-2945-1D73-317D-68AAAFED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9" y="2623410"/>
            <a:ext cx="237511" cy="32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6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1D83-5019-D575-9674-AB01961A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2059-E9B7-32A7-F5BF-AC25DB18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Our algorithm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FE7D7-E732-94D0-6F0C-C41D3DC4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8" name="Content Placeholder 7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B5BE26B-014F-002B-A952-DCADAA608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655" y="1324104"/>
            <a:ext cx="10486908" cy="421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2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5CC7-354E-22AB-114C-2F0472D30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F962-33C1-48F3-69ED-B9CB1182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Simulations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5519F0-FFD8-2448-3097-EE82278AA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>
                <a:latin typeface="Franklin Gothic Book"/>
              </a:rPr>
              <a:t>Estimate two low rank matrices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>
              <a:latin typeface="Franklin Gothic Book"/>
            </a:endParaRPr>
          </a:p>
          <a:p>
            <a:pPr lvl="1">
              <a:buNone/>
            </a:pPr>
            <a:r>
              <a:rPr lang="en-US">
                <a:latin typeface="Franklin Gothic Book"/>
              </a:rPr>
              <a:t> Suppose we run simulations on our real data X1 and X2 (properly scaled) and choose some arbitrary and sparse beta values to be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>
                <a:latin typeface="Franklin Gothic Book"/>
              </a:rPr>
              <a:t> </a:t>
            </a: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6C4CF-02C1-A13B-2907-9624EBCC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26F6FA-A9C1-0EF7-9B72-3544763C3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735" y="3427357"/>
            <a:ext cx="6731219" cy="82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42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4E9B-ABDC-9181-32F3-3773A23C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EC3E-2587-6321-01D3-5FA447C3A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Simulations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9F807DD-063E-C73F-DB42-9983F9570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>
                <a:latin typeface="Franklin Gothic Book"/>
              </a:rPr>
              <a:t>Estimate two low rank matrices</a:t>
            </a:r>
            <a:endParaRPr lang="en-US"/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>
              <a:latin typeface="Franklin Gothic Book"/>
            </a:endParaRP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>
                <a:latin typeface="Franklin Gothic Book"/>
              </a:rPr>
              <a:t>The trajectory of the first five entries in beta_1 during the optimization looks like the left figure below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>
                <a:latin typeface="Franklin Gothic Book"/>
              </a:rPr>
              <a:t> </a:t>
            </a: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95833-2448-C295-5E93-07DE7334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61C68E8-341D-D259-D3EC-999B68E31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904" y="3312776"/>
            <a:ext cx="5131190" cy="2860246"/>
          </a:xfrm>
          <a:prstGeom prst="rect">
            <a:avLst/>
          </a:prstGeom>
        </p:spPr>
      </p:pic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45DD497-0F21-0366-7496-378C98C4C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092" y="3350665"/>
            <a:ext cx="4560833" cy="282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62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75525-7048-22D8-279F-97BB5A66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43E4A-56E9-11CC-F9D0-DDEFE836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Simulations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B09782-FAC1-12F1-3160-302D29DE7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>
                <a:latin typeface="Franklin Gothic Book"/>
              </a:rPr>
              <a:t>Estimate two low rank matrices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>
              <a:latin typeface="Franklin Gothic Book"/>
            </a:endParaRPr>
          </a:p>
          <a:p>
            <a:pPr lvl="1">
              <a:buNone/>
            </a:pPr>
            <a:r>
              <a:rPr lang="en-US">
                <a:latin typeface="Franklin Gothic Book"/>
              </a:rPr>
              <a:t> We can also have a look at the result when there are more nonzero entries in beta.</a:t>
            </a: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>
                <a:latin typeface="Franklin Gothic Book"/>
              </a:rPr>
              <a:t> </a:t>
            </a: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1F739-4A05-EC1F-8086-C5ACA3D5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3" name="Picture 2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13391921-A231-215E-5840-870666EEDD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r="7278" b="1810"/>
          <a:stretch>
            <a:fillRect/>
          </a:stretch>
        </p:blipFill>
        <p:spPr>
          <a:xfrm>
            <a:off x="2974848" y="3074554"/>
            <a:ext cx="6181350" cy="264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90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6CBB-546F-913E-6350-75614481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E42C3-2E05-B2C3-E741-73E107D7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Simulations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C6C126-7929-DF41-35CB-CA03E4C87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>
                <a:latin typeface="Franklin Gothic Book"/>
              </a:rPr>
              <a:t>Estimate two low rank matrices</a:t>
            </a:r>
            <a:endParaRPr lang="en-US"/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>
              <a:latin typeface="Franklin Gothic Book"/>
            </a:endParaRP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>
                <a:latin typeface="Franklin Gothic Book"/>
              </a:rPr>
              <a:t> </a:t>
            </a:r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BE0EE-B6F0-7B9B-9B49-5F41868D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B797B2-5160-6FE8-925B-DFBCEEBFE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93" y="2511220"/>
            <a:ext cx="4811047" cy="2985934"/>
          </a:xfrm>
          <a:prstGeom prst="rect">
            <a:avLst/>
          </a:prstGeom>
        </p:spPr>
      </p:pic>
      <p:pic>
        <p:nvPicPr>
          <p:cNvPr id="5" name="Picture 4" descr="A graph of a distribution of beta1 values&#10;&#10;AI-generated content may be incorrect.">
            <a:extLst>
              <a:ext uri="{FF2B5EF4-FFF2-40B4-BE49-F238E27FC236}">
                <a16:creationId xmlns:a16="http://schemas.microsoft.com/office/drawing/2014/main" id="{B61E4E33-64B9-2211-9707-BA9184E35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90" y="2538794"/>
            <a:ext cx="5169027" cy="295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380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0976B618-9333-A484-CAF0-88CD9679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Medium"/>
              </a:rPr>
              <a:t>Discussion</a:t>
            </a:r>
            <a:endParaRPr lang="en-US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5FD2C9F4-47E2-DE3D-BF42-D90AFBE7A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latin typeface="Franklin Gothic Book"/>
              </a:rPr>
              <a:t>The sign and significance of the coefficients require further analysis. </a:t>
            </a:r>
            <a:endParaRPr lang="en-US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4B0EC-09EC-8C8A-0D24-2EA3B792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07726-2800-9647-8D0A-D77AC1CE49E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29AB4B2F-7CF8-6174-9AB8-E55124BCA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01.</a:t>
            </a: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CC28941-92BB-2CAF-5448-3DB32B42EEB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latin typeface="Franklin Gothic Book"/>
              </a:rPr>
              <a:t>A threshold may be needed to filter out near-zero values and ensure sparsity by retaining only the most significant terms.</a:t>
            </a:r>
            <a:endParaRPr lang="en-US" sz="1600">
              <a:solidFill>
                <a:srgbClr val="000000"/>
              </a:solidFill>
              <a:latin typeface="Franklin Gothic Book"/>
            </a:endParaRPr>
          </a:p>
          <a:p>
            <a:endParaRPr lang="en-US" sz="160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FF1891F-D783-67A3-181E-6758DBA47D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02.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C2DD470C-73A2-345C-7F57-0BC5CB2486BB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latin typeface="Franklin Gothic Book"/>
              </a:rPr>
              <a:t>Since X1 and X2 are highly correlated, it may be beneficial to include penalties that capture group structures within the objective function.</a:t>
            </a:r>
            <a:endParaRPr lang="en-US" sz="1600">
              <a:solidFill>
                <a:srgbClr val="000000"/>
              </a:solidFill>
              <a:latin typeface="Franklin Gothic Book"/>
            </a:endParaRPr>
          </a:p>
          <a:p>
            <a:endParaRPr lang="en-US">
              <a:latin typeface="Franklin Gothic Book"/>
            </a:endParaRPr>
          </a:p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379C240-6D63-7F91-EFFE-2D6F1114F7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03.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0CDAA524-990E-D3B0-AA7E-920F2DCB3194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latin typeface="Franklin Gothic Book"/>
              </a:rPr>
              <a:t>Test on more simulations and real datasets.</a:t>
            </a:r>
          </a:p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6996192-7FFB-9F49-FB50-4DE6CCD931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1515569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VA 1">
      <a:dk1>
        <a:srgbClr val="000000"/>
      </a:dk1>
      <a:lt1>
        <a:srgbClr val="FFFFFF"/>
      </a:lt1>
      <a:dk2>
        <a:srgbClr val="232C48"/>
      </a:dk2>
      <a:lt2>
        <a:srgbClr val="E8E8E8"/>
      </a:lt2>
      <a:accent1>
        <a:srgbClr val="E57100"/>
      </a:accent1>
      <a:accent2>
        <a:srgbClr val="EF3F6B"/>
      </a:accent2>
      <a:accent3>
        <a:srgbClr val="009FDF"/>
      </a:accent3>
      <a:accent4>
        <a:srgbClr val="FDDA24"/>
      </a:accent4>
      <a:accent5>
        <a:srgbClr val="24CAD3"/>
      </a:accent5>
      <a:accent6>
        <a:srgbClr val="61BB46"/>
      </a:accent6>
      <a:hlink>
        <a:srgbClr val="E57100"/>
      </a:hlink>
      <a:folHlink>
        <a:srgbClr val="E571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1712</Words>
  <Application>Microsoft Office PowerPoint</Application>
  <PresentationFormat>Widescreen</PresentationFormat>
  <Paragraphs>289</Paragraphs>
  <Slides>29</Slides>
  <Notes>4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ConnectMVR: A Supervised Brain Connectivity Analysis Framework for Predicting Behavioral Outcomes</vt:lpstr>
      <vt:lpstr>PowerPoint Presentation</vt:lpstr>
      <vt:lpstr>Functional magnetic resonance imaging (fMRI)</vt:lpstr>
      <vt:lpstr>Functional Connectivity (FC)</vt:lpstr>
      <vt:lpstr>Link FC with Behaviors -- Statistical Methods</vt:lpstr>
      <vt:lpstr>Link FC with Behaviors – DL Methods</vt:lpstr>
      <vt:lpstr>Challenge 1 – Matrix Regression</vt:lpstr>
      <vt:lpstr>Multi-Graph -- Dynamic cases</vt:lpstr>
      <vt:lpstr>Multi-Graph -- Multi-paradigm fMRI</vt:lpstr>
      <vt:lpstr>Multi-Graph -- Multi-modal MRI</vt:lpstr>
      <vt:lpstr>Challenge 2: Multi-graph Modelling</vt:lpstr>
      <vt:lpstr>PowerPoint Presentation</vt:lpstr>
      <vt:lpstr>Matrix-Variate Regression – Bilinear Format</vt:lpstr>
      <vt:lpstr>Next Steps:  - Estimation procedure and optimization algorithm  - Computational implementation  - Simulation studies</vt:lpstr>
      <vt:lpstr>Bilinear regression on one matrix</vt:lpstr>
      <vt:lpstr>Nuclear norm</vt:lpstr>
      <vt:lpstr>SVD decomposition</vt:lpstr>
      <vt:lpstr>Bilinear regression on two matrices</vt:lpstr>
      <vt:lpstr>Lasso regression</vt:lpstr>
      <vt:lpstr>Proximal gradient descent (PGD)</vt:lpstr>
      <vt:lpstr>Challenges</vt:lpstr>
      <vt:lpstr>How to obtain a better initial value</vt:lpstr>
      <vt:lpstr>Challenges</vt:lpstr>
      <vt:lpstr>Our algorithm</vt:lpstr>
      <vt:lpstr>Simulations</vt:lpstr>
      <vt:lpstr>Simulations</vt:lpstr>
      <vt:lpstr>Simulations</vt:lpstr>
      <vt:lpstr>Simulations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Temkin, Jacqueline (jlt2au)</dc:creator>
  <cp:lastModifiedBy>Zhang, Aiying (NYSPI)</cp:lastModifiedBy>
  <cp:revision>4</cp:revision>
  <dcterms:created xsi:type="dcterms:W3CDTF">2025-06-25T18:39:14Z</dcterms:created>
  <dcterms:modified xsi:type="dcterms:W3CDTF">2026-05-05T19:19:29Z</dcterms:modified>
</cp:coreProperties>
</file>